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9" r:id="rId6"/>
    <p:sldId id="258" r:id="rId7"/>
    <p:sldId id="259" r:id="rId8"/>
    <p:sldId id="260" r:id="rId9"/>
    <p:sldId id="265" r:id="rId10"/>
    <p:sldId id="266" r:id="rId11"/>
    <p:sldId id="284" r:id="rId12"/>
    <p:sldId id="263" r:id="rId13"/>
    <p:sldId id="264" r:id="rId14"/>
    <p:sldId id="285" r:id="rId15"/>
    <p:sldId id="261" r:id="rId16"/>
    <p:sldId id="262" r:id="rId17"/>
    <p:sldId id="286" r:id="rId18"/>
    <p:sldId id="287" r:id="rId19"/>
    <p:sldId id="268" r:id="rId20"/>
    <p:sldId id="275" r:id="rId21"/>
    <p:sldId id="273" r:id="rId22"/>
    <p:sldId id="274" r:id="rId23"/>
    <p:sldId id="269" r:id="rId24"/>
    <p:sldId id="270" r:id="rId25"/>
    <p:sldId id="271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91" r:id="rId35"/>
    <p:sldId id="288" r:id="rId3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[时间：1分钟]</a:t>
            </a:r>
          </a:p>
          <a:p>
            <a:r>
              <a:t>大家好，今天这场分享叫“提问即生产力”。先说清楚，我今天不打算教大家背一堆提示词，也不会给大家做工具排行榜。我们就做一件很实际的事：找一件你已经做烦了、又不得不重复做的工作，看看怎么把它交给 AI。九十分钟结束的时候，如果大家能少做一次重复劳动，这场课就值了。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[时间：3分钟]</a:t>
            </a:r>
          </a:p>
          <a:p>
            <a:r>
              <a:t>先简单介绍一下我自己。我做海外广告投放，工作一年左右。平时比较喜欢折腾各种工具，但我不是程序员，也不是 AI 产品专家。</a:t>
            </a:r>
          </a:p>
          <a:p/>
          <a:p>
            <a:r>
              <a:t>我开始用 AI 的原因也没有多高大上，就是讨厌重复劳动。同一件事情如果手动做第三遍，我脑子里就会开始冒出一个问题：这件事能不能不要再由我亲手做？</a:t>
            </a:r>
          </a:p>
          <a:p/>
          <a:p>
            <a:r>
              <a:t>所以今天分享的不是理想状态，也不是网上看来的案例，基本都是我自己工作里真的遇到过、翻过车、最后跑通的事情。有些做法很朴素，甚至谈不上多智能，但它确实帮我腾出了时间。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[时间：3分钟]</a:t>
            </a:r>
          </a:p>
          <a:p>
            <a:r>
              <a:t>开始之前，大家先选一个：如果明天醒来，有一类工作自动消失了，你最希望是哪一类？</a:t>
            </a:r>
          </a:p>
          <a:p/>
          <a:p>
            <a:r>
              <a:t>一是导数据、拼表、调格式、发日报；二是看很多资料，再自己整理重点；三是素材只改一点点，也要排期和来回沟通；四是怕广告跑飞，一直盯着不敢离开。</a:t>
            </a:r>
          </a:p>
          <a:p/>
          <a:p>
            <a:r>
              <a:t>线下的同学可以直接举手，线上的同学在聊天区打 1、2、3、4。这里没有标准答案，我只是想让大家先带着自己的痛点听。因为后面每个案例，解决的都是这里面的一种烦。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[时间：3分钟]</a:t>
            </a:r>
          </a:p>
          <a:p>
            <a:r>
              <a:t>在看工具之前，先算三笔账。第一是时间账：日报每天只花十分钟，看起来不多，但按一年240个工作日估算，就是大约39小时。第二是返工账：如果产品理解和brief一开始错了，后面的每一张图都在放大误解。第三是注意力账：盯盘、等排期、反复补充需求，真正耗掉的是注意力和上下文切换。</a:t>
            </a:r>
          </a:p>
          <a:p>
            <a:r>
              <a:t>今天做AI，不是为了炫技，而是把这些低价值重复从人的注意力里拿走。39小时是按10分钟减到10秒、每年240个工作日做的估算，现场要明确说是估算。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[时间：30秒]</a:t>
            </a:r>
          </a:p>
          <a:p>
            <a:r>
              <a:t>接下来先不讲AI原理，也不先讲我的方法。我们直接做三场实操：自动日报、素材改图和资料整理。每次都先说痛点和验收标准，再现场跑。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这个案例最容易被低估：日报单次只有十分钟，好像不值得做。但它每天发生，而且会固定打断一次工作。现在点一次按钮，十秒左右完成，已经稳定运行半年多。</a:t>
            </a:r>
          </a:p>
          <a:p>
            <a:r>
              <a:t>按每年240个工作日估算，大约节省39小时。更重要的是输出格式更一致，也减少每天一次上下文切换。它不替我做投放结论，只处理固定的数据整理。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[时间：9分钟｜实操一]</a:t>
            </a:r>
          </a:p>
          <a:p>
            <a:r>
              <a:t>1分钟：展示一份媒体导出表和目标日报格式，先讲清固定输入、固定输出和汇总口径。</a:t>
            </a:r>
          </a:p>
          <a:p>
            <a:r>
              <a:t>3分钟：用Google表格搭导入、清洗和汇总链路；海外媒体现场跑通一条。</a:t>
            </a:r>
          </a:p>
          <a:p>
            <a:r>
              <a:t>2分钟：生成简易汇报。如果现场条件允许，再展示发送环节；否则用已有截图。</a:t>
            </a:r>
          </a:p>
          <a:p>
            <a:r>
              <a:t>2分钟：核对日期、总消耗和一条分媒体数据，强调自动化不能跳过验收。</a:t>
            </a:r>
          </a:p>
          <a:p>
            <a:r>
              <a:t>1分钟：讨论国内媒体的半自动方案。先解决能导出的部分，不为了全自动而全自动。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素材小改真正耗人的不是操作本身，而是提需求、等排期、补充说明和临时切换。以前一处小改可能占用多次沟通；现在规则明确的任务可以异步提交，我去做别的，半天后集中验收。</a:t>
            </a:r>
          </a:p>
          <a:p>
            <a:r>
              <a:t>这里的成果不是宣称几分钟全自动完成，而是减少人的守候和低价值往返。同时保护设计岗位价值：原创方向和品牌判断依然交给设计师。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[时间：7分钟｜实操二]</a:t>
            </a:r>
          </a:p>
          <a:p>
            <a:r>
              <a:t>1分钟：给出原图、目标尺寸和最终交付数量。</a:t>
            </a:r>
          </a:p>
          <a:p>
            <a:r>
              <a:t>2分钟：写清只改哪里，以及构图、文案、Logo和品牌元素哪些不能动。</a:t>
            </a:r>
          </a:p>
          <a:p>
            <a:r>
              <a:t>2分钟：让AI执行第一版，现场看它有没有擅自改动。</a:t>
            </a:r>
          </a:p>
          <a:p>
            <a:r>
              <a:t>2分钟：核对尺寸和画面，把纠偏过程交给AI总结成Skill。下一次同类任务不再从零解释。</a:t>
            </a:r>
          </a:p>
          <a:p>
            <a:r>
              <a:t>验收标准：尺寸正确；画面主体不变形；文案、金额、Logo和品牌元素完整；输出数量准确。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第三个痛点不是简单的资料多，而是官网、产品说明、品牌材料和公开参考承担的角色不同。如果直接让AI出图，它可能把参考当事实、把功能当卖点，最后每张图都要返工。</a:t>
            </a:r>
          </a:p>
          <a:p>
            <a:r>
              <a:t>这件事值得做，不是因为AI看得快，而是它能先把散乱资料变成一个可以验收的brief。人的工作从面对空白，变成判断和修改初稿。这里不报没有验证过的节省时长，只强调减少重复阅读和后续返工。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[时间：8分钟｜实操三]</a:t>
            </a:r>
          </a:p>
          <a:p>
            <a:r>
              <a:t>1分钟：说明现场交付不是图片，而是一份可以验收的产品brief。</a:t>
            </a:r>
          </a:p>
          <a:p>
            <a:r>
              <a:t>2分钟：把产品页、产品说明和目标受众交给adswin，说明每份材料的用途，并让AI先采访我。</a:t>
            </a:r>
          </a:p>
          <a:p>
            <a:r>
              <a:t>3分钟：让AI输出用户、场景、卖点、证据和表达边界。</a:t>
            </a:r>
          </a:p>
          <a:p>
            <a:r>
              <a:t>2分钟：现场挑一条卖点追问依据；如果依据不足就删掉或改写，再让观众判断是否可以进入作图。</a:t>
            </a:r>
          </a:p>
          <a:p>
            <a:r>
              <a:t>验收标准：产品事实没有混淆；卖点能落到使用场景；不确定信息被标注；品牌边界明确。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[时间：30秒]</a:t>
            </a:r>
          </a:p>
          <a:p>
            <a:r>
              <a:t>刚才先看了三场实操。现在再回头看我自己的实践过程：它们分别对应守护、交办和共创三种交法。方法放到实操之后，大家更容易理解它解决的到底是哪种问题。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所以第一个案例留下的方法是：长期重复、规则稳定的事情，可以把判断规则变成提醒。</a:t>
            </a:r>
          </a:p>
          <a:p/>
          <a:p>
            <a:r>
              <a:t>需要说清楚四件事：多久检查一次，看哪些数据，什么条件算异常，提醒里要带回什么信息。系统负责持续看和及时通知，人负责确认是不是误报、判断原因以及最后怎么处理。</a:t>
            </a:r>
          </a:p>
          <a:p/>
          <a:p>
            <a:r>
              <a:t>这里一定要保留人的决定权。自动化可以负责看，但业务判断不能为了追求“全自动”就随便交出去。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并不是所有设计任务都适合这样做。像左右对调、尺寸适配、小语种本地化、轻量同义改写，这些任务的变化范围比较清楚，适合先交给 AI。</a:t>
            </a:r>
          </a:p>
          <a:p/>
          <a:p>
            <a:r>
              <a:t>但是原创方向、品牌判断、核心概念，或者根本没有明确标准的设计，我不会假装 AI 已经可以全部接走。这些任务里最有价值的部分，还是人的判断和设计能力。</a:t>
            </a:r>
          </a:p>
          <a:p/>
          <a:p>
            <a:r>
              <a:t>所以这个方法不是替代设计师，而是先把规则明确的小改和低价值往返拿走，让人把时间留给需要判断的工作。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[时间：3分钟]</a:t>
            </a:r>
          </a:p>
          <a:p>
            <a:r>
              <a:t>第二次我换了一种写法。第一，明确只改哪里：仅交换左右两侧元素。第二，写清其他不变：构图、字号、CTA 位置都不要动。第三，写清文案边界：如果需要调整，只做轻量同义替换。第四，写清怎么验收：金额、活动信息和拼写必须正确。</a:t>
            </a:r>
          </a:p>
          <a:p/>
          <a:p>
            <a:r>
              <a:t>大家会发现，真正起作用的不是更礼貌，也不是提示词更长，而是它像一张任务单：改动范围、禁止改动、交付结果和验收条件都很清楚。</a:t>
            </a:r>
          </a:p>
          <a:p/>
          <a:p>
            <a:r>
              <a:t>以后遇到小改，不必先想一句多厉害的提示词。先问自己三件事：到底改哪儿？什么不能动？我回来怎么判断它做对了？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我给 AI 的不是一句“帮我作图”，而是四类资料，而且告诉它每类资料拿来干什么。</a:t>
            </a:r>
          </a:p>
          <a:p/>
          <a:p>
            <a:r>
              <a:t>官网负责回答“这个产品到底是什么”；产品说明负责找功能、使用场景和可能的卖点；品牌材料负责约束风格和不能改的东西；公开参考只是帮助理解类似能力通常怎么表达，不代表别人真的在投什么广告。</a:t>
            </a:r>
          </a:p>
          <a:p/>
          <a:p>
            <a:r>
              <a:t>这里我踩过的坑是，把一堆链接扔进去，就觉得 AI 应该自己理解。其实资料越多，越要说明每份资料的作用，不然它很容易把事实、参考和你的任务混在一起。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[时间：4分钟]</a:t>
            </a:r>
          </a:p>
          <a:p>
            <a:r>
              <a:t>第一轮，我没有让它出图，而是先让它把材料整理成一份 brief。比如目标用户是谁、使用场景是什么、卖点可以怎么排、第一批图片先测哪些方向，以及有哪些不能说、不能改的边界。</a:t>
            </a:r>
          </a:p>
          <a:p/>
          <a:p>
            <a:r>
              <a:t>如果现场网络正常，我会给大家看一下这个过程。大家注意，我不会把 AI 的第一版总结直接当答案。我会先看它有没有理解错产品，再删掉太空的词，把卖点改成能落到画面上的表达。</a:t>
            </a:r>
          </a:p>
          <a:p/>
          <a:p>
            <a:r>
              <a:t>这一步看起来像多做了一层，其实是在减少后面返工。因为 brief 如果没弄清楚，后面每出一张图都可能是在放大前面的误解。先修理解，再做生产，通常比边画边猜稳得多。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最后拿到的东西并不是什么高大上的审计，就是一份比较好找参考的素材墙，加上一份能继续做第一版图片的卖点总结。</a:t>
            </a:r>
          </a:p>
          <a:p/>
          <a:p>
            <a:r>
              <a:t>AI 帮我把散乱资料排好，把重复阅读和初步归类先做掉。至于哪些卖点真的值得讲、哪个方向适合投放，还是要我自己判断。</a:t>
            </a:r>
          </a:p>
          <a:p/>
          <a:p>
            <a:r>
              <a:t>我觉得这也是比较真实的人机分工：AI 不一定一次给你终稿，但它可以把你从“面对一堆东西不知道从哪开始”，推进到“我已经有一份可以判断和修改的初稿”。</a:t>
            </a:r>
          </a:p>
          <a:p/>
          <a:p>
            <a:r>
              <a:t>[Sources]</a:t>
            </a:r>
          </a:p>
          <a:p>
            <a:r>
              <a:t>- User-provided Accio Work materials and prior project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[时间：6分钟]</a:t>
            </a:r>
          </a:p>
          <a:p>
            <a:r>
              <a:t>我们把三个方法放在一起看。</a:t>
            </a:r>
          </a:p>
          <a:p/>
          <a:p>
            <a:r>
              <a:t>第一类是探索型任务。你手里有很多资料，但连方向都还没完全想清楚。这时不要直接要终稿，先让 AI 做 brief、提纲或分类，确认理解之后再生产。</a:t>
            </a:r>
          </a:p>
          <a:p/>
          <a:p>
            <a:r>
              <a:t>第二类是执行型任务。目标清楚，只是有一批重复小改。这时不要写一段很虚的要求，而是写任务单：改什么、不能动什么、怎么验收，然后异步跑。</a:t>
            </a:r>
          </a:p>
          <a:p/>
          <a:p>
            <a:r>
              <a:t>第三类是持续型任务。每天、每周都在重复，而且判断规则稳定。这时可以考虑把频率、阈值和通知内容固化成自动化。</a:t>
            </a:r>
          </a:p>
          <a:p/>
          <a:p>
            <a:r>
              <a:t>还有一个共同底线：无论是哪一类，AI 都负责处理，人负责验收和决定。区别只是人什么时候介入、用什么方式验收。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[时间：3分钟]</a:t>
            </a:r>
          </a:p>
          <a:p>
            <a:r>
              <a:t>我今天讲的是广告优化师的案例，不是因为 AI 只适合优化师，而是因为这是我最了解、也真正跑通过的工作现场。</a:t>
            </a:r>
          </a:p>
          <a:p>
            <a:r>
              <a:t>把岗位名称换掉以后，底层动作其实很像：产品面对大量用户反馈，可以先提炼问题、形成需求初稿；销售可以从会议记录里提取待办和跟进建议；设计与内容可以把规则明确的小改动异步交出去；运营和职能岗位也可以把固定规则变成自动整理和异常提醒。</a:t>
            </a:r>
          </a:p>
          <a:p>
            <a:r>
              <a:t>所以，优化师只是我最熟悉的入口。真正通用的能力，是给 AI 足够的上下文，讲清边界和验收，再把反复出现的经验沉淀成流程。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还有一点很重要：好问题通常不是一次写完的，好结果也不是第一轮就出现的。</a:t>
            </a:r>
          </a:p>
          <a:p/>
          <a:p>
            <a:r>
              <a:t>如果结果不对，不要只说“重新来一个”。把错的结果原样贴回去，指出哪里不对、正确应该是什么、哪些地方下一轮不能再动。每一次纠偏，都是在补充它缺少的标准。</a:t>
            </a:r>
          </a:p>
          <a:p/>
          <a:p>
            <a:r>
              <a:t>所以会用 AI，不是一次写出神奇提示词，而是能看出结果哪里有问题，并且把这个问题说清楚。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[时间：3分钟]</a:t>
            </a:r>
          </a:p>
          <a:p>
            <a:r>
              <a:t>做完三场实操以后，再看AI的变化就比较具体了：会聊，是给答案；会读，是处理长资料；会做，是生成文件、修改素材和调用工具；会守，是持续检查并在满足条件时提醒。</a:t>
            </a:r>
          </a:p>
          <a:p>
            <a:r>
              <a:t>真正的变化不是某一步快一点，而是工作经验开始可以被写成任务、规则和流程。人的职责则转向定义、验收和决定。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[时间：2分钟]</a:t>
            </a:r>
          </a:p>
          <a:p>
            <a:r>
              <a:t>我的个人选择是：复杂长任务目前优先海外主流模型，它们在综合能力和一手生态上通常更领先；但涉及公司数据、权限和固定业务流程时，优先使用内部工具。国内模型在中文、成本和接入上也有适合的场景。</a:t>
            </a:r>
          </a:p>
          <a:p>
            <a:r>
              <a:t>今天不是劝大家换掉内部产品，而是强调任务、上下文、边界和验收方法是通用的。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[时间：4分钟]</a:t>
            </a:r>
          </a:p>
          <a:p>
            <a:r>
              <a:t>如果条件允许，我建议先上X和YouTube，尽量接近模型公司、产品团队和一线从业者的一手信息。可以先关注Codex的Tibo，X账号是@thsottiaux，再从他的关注和互动对象里扩展到其他顶尖AI公司和创作者。</a:t>
            </a:r>
          </a:p>
          <a:p>
            <a:r>
              <a:t>不要只刷一次。主动关注、收藏和互动一批高质量账号，让推荐逐渐收敛到你真正关心的AI内容。</a:t>
            </a:r>
          </a:p>
          <a:p>
            <a:r>
              <a:t>不方便上外网，可以在即刻App关注AI探索站。愿意付费，可以去知识星球或加入付费社群，但付费应该买筛选、任务、反馈和同伴，不是只买新闻搬运。</a:t>
            </a:r>
          </a:p>
          <a:p>
            <a:r>
              <a:t>[Sources]</a:t>
            </a:r>
          </a:p>
          <a:p>
            <a:r>
              <a:t>- https://x.com/thsottiaux/with_replies</a:t>
            </a:r>
          </a:p>
          <a:p>
            <a:r>
              <a:t>- https://m.okjike.com/originalPosts/6732f1c7f028aec83d5c408d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[时间：4分钟｜含小练习]</a:t>
            </a:r>
          </a:p>
          <a:p>
            <a:r>
              <a:t>学AI和学做饭差不多。第一，先选一口好锅：复杂任务别用明显太弱的模型；涉及公司数据就优先内部工具。第二，立刻下厨房，用真实任务开练。第三，边做边复盘。</a:t>
            </a:r>
          </a:p>
          <a:p>
            <a:r>
              <a:t>现场小练习：让大家把刚才一个失败结果贴回AI，问三个问题——为什么会这样？我缺了什么信息？下一轮应该怎么说？最后让AI把这次过程总结成自己的学习清单。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[时间：10分钟｜行动任务与提问]</a:t>
            </a:r>
          </a:p>
          <a:p>
            <a:r>
              <a:t>这周挑一件已经重复做过三次以上的真实任务，用主流强模型跑出第一版，再让AI帮你复盘。资料很多就先要brief；规则明确就写清边界和验收；长期重复就写频率、阈值和通知内容。</a:t>
            </a:r>
          </a:p>
          <a:p>
            <a:r>
              <a:t>最后留出提问。今天的目标不是学会所有工具，而是完成一次真实任务。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m.okjike.com/topics/63579abb6724cc583b9bba9a?s=ewoidSI6ICI2YTYzZGZiNzNlZWExMDM3NGRiZDMyMTUiCn0=" TargetMode="External"/><Relationship Id="rId1" Type="http://schemas.openxmlformats.org/officeDocument/2006/relationships/hyperlink" Target="https://x.com/thsottiaux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914400" y="2286000"/>
            <a:ext cx="10907395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>
                <a:solidFill>
                  <a:srgbClr val="FFFFFF"/>
                </a:solidFill>
              </a:rPr>
              <a:t>AI</a:t>
            </a:r>
            <a:r>
              <a:rPr sz="4000" b="1">
                <a:solidFill>
                  <a:srgbClr val="FFFFFF"/>
                </a:solidFill>
              </a:rPr>
              <a:t>不只是聊天：把真实工作变成可执行流程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914400" y="36118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>
                <a:solidFill>
                  <a:srgbClr val="CAD3E8"/>
                </a:solidFill>
              </a:rPr>
              <a:t>一名广告优化师的三个实战案例与一套通用工作法</a:t>
            </a:r>
            <a:endParaRPr sz="2400">
              <a:solidFill>
                <a:srgbClr val="CAD3E8"/>
              </a:solidFill>
            </a:endParaRPr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4173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777240" cy="77724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960120" y="228600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60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个人</a:t>
            </a:r>
            <a:r>
              <a:rPr sz="60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简介</a:t>
            </a:r>
            <a:endParaRPr sz="60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1005840" y="395351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牛童</a:t>
            </a:r>
            <a:r>
              <a:rPr sz="2600">
                <a:solidFill>
                  <a:srgbClr val="4A5878"/>
                </a:solidFill>
              </a:rPr>
              <a:t> · </a:t>
            </a:r>
            <a:r>
              <a:rPr sz="2600">
                <a:solidFill>
                  <a:srgbClr val="4A5878"/>
                </a:solidFill>
              </a:rPr>
              <a:t>蓝瀚互动效果服务部</a:t>
            </a:r>
            <a:r>
              <a:rPr sz="2600">
                <a:solidFill>
                  <a:srgbClr val="4A5878"/>
                </a:solidFill>
              </a:rPr>
              <a:t> · </a:t>
            </a:r>
            <a:r>
              <a:rPr sz="2600">
                <a:solidFill>
                  <a:srgbClr val="4A5878"/>
                </a:solidFill>
              </a:rPr>
              <a:t>海外广告优化师</a:t>
            </a:r>
            <a:endParaRPr sz="260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>
                <a:solidFill>
                  <a:srgbClr val="4A5878"/>
                </a:solidFill>
              </a:rPr>
              <a:t>长期折腾AI在投放场景里的实际落地</a:t>
            </a:r>
            <a:endParaRPr sz="2600">
              <a:solidFill>
                <a:srgbClr val="4A5878"/>
              </a:solidFill>
            </a:endParaRPr>
          </a:p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>
                <a:solidFill>
                  <a:srgbClr val="4A5878"/>
                </a:solidFill>
              </a:rPr>
              <a:t>已跑通：资料提炼、素材迭代、自动日报与异常预警  </a:t>
            </a:r>
            <a:endParaRPr sz="2600">
              <a:solidFill>
                <a:srgbClr val="4A5878"/>
              </a:solidFill>
            </a:endParaRPr>
          </a:p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>
                <a:solidFill>
                  <a:srgbClr val="4A5878"/>
                </a:solidFill>
              </a:rPr>
              <a:t>我不是技术专家，只是习惯把重复劳动继续往前推一步</a:t>
            </a:r>
            <a:endParaRPr sz="2600">
              <a:solidFill>
                <a:srgbClr val="4A587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lang="zh-CN" sz="36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课前活跃</a:t>
            </a:r>
            <a:r>
              <a:rPr lang="zh-CN" sz="36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一下</a:t>
            </a:r>
            <a:endParaRPr lang="zh-CN" sz="36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2734945"/>
            <a:ext cx="2895600" cy="33909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9790" y="1949450"/>
            <a:ext cx="27387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输入月薪和工作时间，实时看</a:t>
            </a:r>
            <a:r>
              <a:rPr lang="zh-CN" altLang="en-US"/>
              <a:t>今天赚了多少钱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265" y="3229610"/>
            <a:ext cx="3796665" cy="24022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90415" y="2076450"/>
            <a:ext cx="27387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输入目的地、</a:t>
            </a:r>
            <a:r>
              <a:rPr lang="zh-CN" altLang="en-US"/>
              <a:t>时段、好价判断标准，连接机票网站，实时</a:t>
            </a:r>
            <a:r>
              <a:rPr lang="zh-CN" altLang="en-US"/>
              <a:t>查价，符合即</a:t>
            </a:r>
            <a:r>
              <a:rPr lang="zh-CN" altLang="en-US"/>
              <a:t>推送</a:t>
            </a:r>
            <a:endParaRPr lang="zh-CN" altLang="en-US"/>
          </a:p>
        </p:txBody>
      </p:sp>
      <p:pic>
        <p:nvPicPr>
          <p:cNvPr id="7" name="图片 6" descr="截屏 2026-08-27 10.46.24"/>
          <p:cNvPicPr>
            <a:picLocks noChangeAspect="1"/>
          </p:cNvPicPr>
          <p:nvPr/>
        </p:nvPicPr>
        <p:blipFill>
          <a:blip r:embed="rId3"/>
          <a:srcRect t="7093" b="13433"/>
          <a:stretch>
            <a:fillRect/>
          </a:stretch>
        </p:blipFill>
        <p:spPr>
          <a:xfrm>
            <a:off x="8375650" y="1120140"/>
            <a:ext cx="3174365" cy="54857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599805" y="198120"/>
            <a:ext cx="27387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workbuddy</a:t>
            </a:r>
            <a:r>
              <a:rPr lang="zh-CN" altLang="en-US"/>
              <a:t>调用外卖助手，授权账号，每天定时帮我</a:t>
            </a:r>
            <a:r>
              <a:rPr lang="zh-CN" altLang="en-US"/>
              <a:t>领券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先选一个：你最想让哪件事消失？</a:t>
            </a:r>
            <a:endParaRPr sz="36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822960" y="173736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280160" y="173736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导数据、拼表、调格式，发日报</a:t>
            </a:r>
            <a:endParaRPr sz="22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822960" y="278892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280160" y="278892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客户发来</a:t>
            </a:r>
            <a:r>
              <a:rPr sz="220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很多资料，</a:t>
            </a:r>
            <a:r>
              <a:rPr sz="220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需要</a:t>
            </a:r>
            <a:r>
              <a:rPr sz="220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自己整理重点</a:t>
            </a:r>
            <a:endParaRPr sz="22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822960" y="384048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1280160" y="384048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素材小改动，也要等排期</a:t>
            </a:r>
            <a:endParaRPr sz="22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822960" y="48920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1280160" y="4892040"/>
            <a:ext cx="96926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盯盘怕跑飞，一直不敢离开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cost-title"/>
          <p:cNvSpPr>
            <a:spLocks noGrp="1"/>
          </p:cNvSpPr>
          <p:nvPr/>
        </p:nvSpPr>
        <p:spPr>
          <a:xfrm>
            <a:off x="819150" y="685800"/>
            <a:ext cx="10515600" cy="6096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先算三笔账：为什么值得做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cost-card-1"/>
          <p:cNvSpPr>
            <a:spLocks noGrp="1"/>
          </p:cNvSpPr>
          <p:nvPr/>
        </p:nvSpPr>
        <p:spPr>
          <a:xfrm>
            <a:off x="781050" y="2371725"/>
            <a:ext cx="3105150" cy="2133600"/>
          </a:xfrm>
          <a:prstGeom prst="roundRect">
            <a:avLst>
              <a:gd name="adj" fmla="val 8036"/>
            </a:avLst>
          </a:prstGeom>
          <a:solidFill>
            <a:srgbClr val="2A4068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3" name="cost-number-1"/>
          <p:cNvSpPr>
            <a:spLocks noGrp="1"/>
          </p:cNvSpPr>
          <p:nvPr/>
        </p:nvSpPr>
        <p:spPr>
          <a:xfrm>
            <a:off x="1914525" y="2647950"/>
            <a:ext cx="838200" cy="4953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25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2250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st-label-1"/>
          <p:cNvSpPr>
            <a:spLocks noGrp="1"/>
          </p:cNvSpPr>
          <p:nvPr/>
        </p:nvSpPr>
        <p:spPr>
          <a:xfrm>
            <a:off x="1066800" y="3295650"/>
            <a:ext cx="2533650" cy="523875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时间账</a:t>
            </a:r>
            <a:endParaRPr sz="21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st-body-1"/>
          <p:cNvSpPr>
            <a:spLocks noGrp="1"/>
          </p:cNvSpPr>
          <p:nvPr/>
        </p:nvSpPr>
        <p:spPr>
          <a:xfrm>
            <a:off x="990600" y="3876675"/>
            <a:ext cx="26860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每天 10 分钟 × </a:t>
            </a:r>
            <a:r>
              <a:rPr lang="en-US"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365</a:t>
            </a:r>
            <a:r>
              <a: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 天</a:t>
            </a:r>
            <a:endParaRPr sz="1350" b="0">
              <a:solidFill>
                <a:srgbClr val="D2D8E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≈ </a:t>
            </a:r>
            <a:r>
              <a:rPr lang="en-US"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60</a:t>
            </a:r>
            <a:r>
              <a: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 小时 / 年</a:t>
            </a:r>
            <a:endParaRPr sz="1350" b="0">
              <a:solidFill>
                <a:srgbClr val="D2D8E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st-card-2"/>
          <p:cNvSpPr>
            <a:spLocks noGrp="1"/>
          </p:cNvSpPr>
          <p:nvPr/>
        </p:nvSpPr>
        <p:spPr>
          <a:xfrm>
            <a:off x="4524375" y="2371725"/>
            <a:ext cx="3105150" cy="2133600"/>
          </a:xfrm>
          <a:prstGeom prst="roundRect">
            <a:avLst>
              <a:gd name="adj" fmla="val 8036"/>
            </a:avLst>
          </a:prstGeom>
          <a:solidFill>
            <a:srgbClr val="2A4068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7" name="cost-number-2"/>
          <p:cNvSpPr>
            <a:spLocks noGrp="1"/>
          </p:cNvSpPr>
          <p:nvPr/>
        </p:nvSpPr>
        <p:spPr>
          <a:xfrm>
            <a:off x="5657850" y="2647950"/>
            <a:ext cx="838200" cy="4953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25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2250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cost-label-2"/>
          <p:cNvSpPr>
            <a:spLocks noGrp="1"/>
          </p:cNvSpPr>
          <p:nvPr/>
        </p:nvSpPr>
        <p:spPr>
          <a:xfrm>
            <a:off x="4810125" y="3295650"/>
            <a:ext cx="2533650" cy="523875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返工账</a:t>
            </a:r>
            <a:endParaRPr sz="21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st-body-2"/>
          <p:cNvSpPr>
            <a:spLocks noGrp="1"/>
          </p:cNvSpPr>
          <p:nvPr/>
        </p:nvSpPr>
        <p:spPr>
          <a:xfrm>
            <a:off x="4733925" y="3876675"/>
            <a:ext cx="26860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brief 错一次</a:t>
            </a:r>
            <a:endParaRPr sz="1350" b="0">
              <a:solidFill>
                <a:srgbClr val="D2D8E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后面的产出一起返工</a:t>
            </a:r>
            <a:endParaRPr sz="1350" b="0">
              <a:solidFill>
                <a:srgbClr val="D2D8E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cost-card-3"/>
          <p:cNvSpPr>
            <a:spLocks noGrp="1"/>
          </p:cNvSpPr>
          <p:nvPr/>
        </p:nvSpPr>
        <p:spPr>
          <a:xfrm>
            <a:off x="8267700" y="2371725"/>
            <a:ext cx="3105150" cy="2133600"/>
          </a:xfrm>
          <a:prstGeom prst="roundRect">
            <a:avLst>
              <a:gd name="adj" fmla="val 8036"/>
            </a:avLst>
          </a:prstGeom>
          <a:solidFill>
            <a:srgbClr val="2A4068"/>
          </a:solidFill>
          <a:ln w="9525">
            <a:solidFill>
              <a:srgbClr val="2A4068"/>
            </a:solidFill>
            <a:prstDash val="solid"/>
          </a:ln>
        </p:spPr>
      </p:sp>
      <p:sp>
        <p:nvSpPr>
          <p:cNvPr id="11" name="cost-number-3"/>
          <p:cNvSpPr>
            <a:spLocks noGrp="1"/>
          </p:cNvSpPr>
          <p:nvPr/>
        </p:nvSpPr>
        <p:spPr>
          <a:xfrm>
            <a:off x="9401175" y="2647950"/>
            <a:ext cx="838200" cy="4953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25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2250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cost-label-3"/>
          <p:cNvSpPr>
            <a:spLocks noGrp="1"/>
          </p:cNvSpPr>
          <p:nvPr/>
        </p:nvSpPr>
        <p:spPr>
          <a:xfrm>
            <a:off x="8553450" y="3295650"/>
            <a:ext cx="2533650" cy="523875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注意力账</a:t>
            </a:r>
            <a:endParaRPr sz="21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cost-body-3"/>
          <p:cNvSpPr>
            <a:spLocks noGrp="1"/>
          </p:cNvSpPr>
          <p:nvPr/>
        </p:nvSpPr>
        <p:spPr>
          <a:xfrm>
            <a:off x="8477250" y="3876675"/>
            <a:ext cx="26860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盯盘、等排期、反复切换</a:t>
            </a:r>
            <a:endParaRPr sz="1350" b="0">
              <a:solidFill>
                <a:srgbClr val="D2D8E6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比动作本身更耗人</a:t>
            </a:r>
            <a:endParaRPr sz="1350" b="0">
              <a:solidFill>
                <a:srgbClr val="D2D8E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cost-conclusion"/>
          <p:cNvSpPr>
            <a:spLocks noGrp="1"/>
          </p:cNvSpPr>
          <p:nvPr/>
        </p:nvSpPr>
        <p:spPr>
          <a:xfrm>
            <a:off x="1143000" y="5162550"/>
            <a:ext cx="9906000" cy="5143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875" b="0">
                <a:solidFill>
                  <a:srgbClr val="D2D8E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D2D8E6"/>
                </a:solidFill>
                <a:latin typeface="微软雅黑"/>
                <a:ea typeface="微软雅黑"/>
                <a:cs typeface="微软雅黑"/>
              </a:rPr>
              <a:t>AI 不是为了炫技，而是把低价值重复从人的注意力里拿走。</a:t>
            </a:r>
            <a:endParaRPr sz="1875" b="0">
              <a:solidFill>
                <a:srgbClr val="D2D8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914400" y="20116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 spc="80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先看结果</a:t>
            </a:r>
            <a:endParaRPr sz="2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三场实操，把真实工作当场交给 AI</a:t>
            </a:r>
            <a:endParaRPr sz="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0"/>
          <p:cNvSpPr>
            <a:spLocks noGrp="1"/>
          </p:cNvSpPr>
          <p:nvPr/>
        </p:nvSpPr>
        <p:spPr>
          <a:xfrm>
            <a:off x="822960" y="398145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实操一前：单次只省10分钟，频率让它变得值钱</a:t>
            </a:r>
            <a:endParaRPr sz="32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hape 1"/>
          <p:cNvSpPr>
            <a:spLocks noGrp="1"/>
          </p:cNvSpPr>
          <p:nvPr/>
        </p:nvSpPr>
        <p:spPr>
          <a:xfrm>
            <a:off x="822960" y="1737360"/>
            <a:ext cx="4846320" cy="4206240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>
            <a:spLocks noGrp="1"/>
          </p:cNvSpPr>
          <p:nvPr/>
        </p:nvSpPr>
        <p:spPr>
          <a:xfrm>
            <a:off x="1143000" y="20116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以前每天固定动作</a:t>
            </a:r>
            <a:endParaRPr sz="1800"/>
          </a:p>
        </p:txBody>
      </p:sp>
      <p:pic>
        <p:nvPicPr>
          <p:cNvPr id="21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974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>
            <a:spLocks noGrp="1"/>
          </p:cNvSpPr>
          <p:nvPr/>
        </p:nvSpPr>
        <p:spPr>
          <a:xfrm>
            <a:off x="1691640" y="26060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〔约 10 分钟〕</a:t>
            </a:r>
            <a:endParaRPr sz="400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1143000" y="32918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导数据、拼表、调格式、发</a:t>
            </a:r>
            <a:r>
              <a:rPr lang="zh-CN" sz="15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lang="zh-CN" sz="150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4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3000" y="39776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>
            <a:spLocks noGrp="1"/>
          </p:cNvSpPr>
          <p:nvPr/>
        </p:nvSpPr>
        <p:spPr>
          <a:xfrm>
            <a:off x="1737360" y="416052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0 秒</a:t>
            </a:r>
            <a:endParaRPr sz="4400"/>
          </a:p>
        </p:txBody>
      </p:sp>
      <p:sp>
        <p:nvSpPr>
          <p:cNvPr id="11" name="Text 6"/>
          <p:cNvSpPr>
            <a:spLocks noGrp="1"/>
          </p:cNvSpPr>
          <p:nvPr/>
        </p:nvSpPr>
        <p:spPr>
          <a:xfrm>
            <a:off x="1143000" y="49834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自动</a:t>
            </a:r>
            <a:r>
              <a:rPr lang="zh-CN" sz="15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推送</a:t>
            </a:r>
            <a:r>
              <a:rPr lang="zh-CN" sz="15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简报到</a:t>
            </a:r>
            <a:r>
              <a:rPr lang="zh-CN" sz="15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飞书</a:t>
            </a:r>
            <a:endParaRPr lang="zh-CN" sz="150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535" y="2117725"/>
            <a:ext cx="3949700" cy="2654935"/>
          </a:xfrm>
          <a:prstGeom prst="rect">
            <a:avLst/>
          </a:prstGeom>
        </p:spPr>
      </p:pic>
      <p:sp>
        <p:nvSpPr>
          <p:cNvPr id="2" name="文本框 1"/>
          <p:cNvSpPr>
            <a:spLocks noGrp="1"/>
          </p:cNvSpPr>
          <p:nvPr/>
        </p:nvSpPr>
        <p:spPr>
          <a:xfrm>
            <a:off x="822960" y="1235075"/>
            <a:ext cx="92379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稳定运行半年多：自动</a:t>
            </a:r>
            <a:r>
              <a:rPr lang="zh-CN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定时从媒体后台抓</a:t>
            </a:r>
            <a:r>
              <a:rPr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数据 → </a:t>
            </a:r>
            <a:r>
              <a:rPr lang="zh-CN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自动定时</a:t>
            </a:r>
            <a:r>
              <a:rPr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固定格式输出</a:t>
            </a:r>
            <a:r>
              <a:rPr lang="zh-CN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 </a:t>
            </a:r>
            <a:endParaRPr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impact-bar-18"/>
          <p:cNvSpPr>
            <a:spLocks noGrp="1"/>
          </p:cNvSpPr>
          <p:nvPr/>
        </p:nvSpPr>
        <p:spPr>
          <a:xfrm>
            <a:off x="819150" y="6143625"/>
            <a:ext cx="10515600" cy="400050"/>
          </a:xfrm>
          <a:prstGeom prst="roundRect">
            <a:avLst>
              <a:gd name="adj" fmla="val 42857"/>
            </a:avLst>
          </a:prstGeom>
          <a:solidFill>
            <a:srgbClr val="FFF2E8"/>
          </a:solidFill>
          <a:ln w="9525">
            <a:solidFill>
              <a:srgbClr val="FFF2E8"/>
            </a:solidFill>
            <a:prstDash val="solid"/>
          </a:ln>
        </p:spPr>
      </p:sp>
      <p:sp>
        <p:nvSpPr>
          <p:cNvPr id="17" name="impact-text-18"/>
          <p:cNvSpPr>
            <a:spLocks noGrp="1"/>
          </p:cNvSpPr>
          <p:nvPr/>
        </p:nvSpPr>
        <p:spPr>
          <a:xfrm>
            <a:off x="1028700" y="6162675"/>
            <a:ext cx="10096500" cy="3619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按 240 个工作日估算：约省 39 小时/年，还少了一次每天固定的工作切换</a:t>
            </a:r>
            <a:endParaRPr sz="1500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practicum-title"/>
          <p:cNvSpPr>
            <a:spLocks noGrp="1"/>
          </p:cNvSpPr>
          <p:nvPr/>
        </p:nvSpPr>
        <p:spPr>
          <a:xfrm>
            <a:off x="819150" y="514350"/>
            <a:ext cx="10553700" cy="5905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实操一｜用 Google 表格搭一个</a:t>
            </a:r>
            <a:r>
              <a:rPr lang="zh-CN"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报表自动整理</a:t>
            </a:r>
            <a:r>
              <a: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工具</a:t>
            </a:r>
            <a:endParaRPr sz="27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racticum-subtitle"/>
          <p:cNvSpPr>
            <a:spLocks noGrp="1"/>
          </p:cNvSpPr>
          <p:nvPr/>
        </p:nvSpPr>
        <p:spPr>
          <a:xfrm>
            <a:off x="819150" y="1133475"/>
            <a:ext cx="10553700" cy="4572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海外媒体现场演示完整链路；国内媒体也可以先从半自动版本开始。</a:t>
            </a:r>
            <a:endParaRPr sz="157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practicum-card-1"/>
          <p:cNvSpPr>
            <a:spLocks noGrp="1"/>
          </p:cNvSpPr>
          <p:nvPr/>
        </p:nvSpPr>
        <p:spPr>
          <a:xfrm>
            <a:off x="819150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4" name="practicum-number-1"/>
          <p:cNvSpPr>
            <a:spLocks noGrp="1"/>
          </p:cNvSpPr>
          <p:nvPr/>
        </p:nvSpPr>
        <p:spPr>
          <a:xfrm>
            <a:off x="1047750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racticum-label-1"/>
          <p:cNvSpPr>
            <a:spLocks noGrp="1"/>
          </p:cNvSpPr>
          <p:nvPr/>
        </p:nvSpPr>
        <p:spPr>
          <a:xfrm>
            <a:off x="1676400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明确输入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acticum-body-1"/>
          <p:cNvSpPr>
            <a:spLocks noGrp="1"/>
          </p:cNvSpPr>
          <p:nvPr/>
        </p:nvSpPr>
        <p:spPr>
          <a:xfrm>
            <a:off x="1085850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媒体导出表 / 日期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固定字段与汇总口径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日报输出样式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racticum-card-2"/>
          <p:cNvSpPr>
            <a:spLocks noGrp="1"/>
          </p:cNvSpPr>
          <p:nvPr/>
        </p:nvSpPr>
        <p:spPr>
          <a:xfrm>
            <a:off x="4410075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8" name="practicum-number-2"/>
          <p:cNvSpPr>
            <a:spLocks noGrp="1"/>
          </p:cNvSpPr>
          <p:nvPr/>
        </p:nvSpPr>
        <p:spPr>
          <a:xfrm>
            <a:off x="4638675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practicum-label-2"/>
          <p:cNvSpPr>
            <a:spLocks noGrp="1"/>
          </p:cNvSpPr>
          <p:nvPr/>
        </p:nvSpPr>
        <p:spPr>
          <a:xfrm>
            <a:off x="5267325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搭处理链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practicum-body-2"/>
          <p:cNvSpPr>
            <a:spLocks noGrp="1"/>
          </p:cNvSpPr>
          <p:nvPr/>
        </p:nvSpPr>
        <p:spPr>
          <a:xfrm>
            <a:off x="4676775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导入 → 清洗 → 汇总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practicum-card-3"/>
          <p:cNvSpPr>
            <a:spLocks noGrp="1"/>
          </p:cNvSpPr>
          <p:nvPr/>
        </p:nvSpPr>
        <p:spPr>
          <a:xfrm>
            <a:off x="8001000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12" name="practicum-number-3"/>
          <p:cNvSpPr>
            <a:spLocks noGrp="1"/>
          </p:cNvSpPr>
          <p:nvPr/>
        </p:nvSpPr>
        <p:spPr>
          <a:xfrm>
            <a:off x="8229600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racticum-label-3"/>
          <p:cNvSpPr>
            <a:spLocks noGrp="1"/>
          </p:cNvSpPr>
          <p:nvPr/>
        </p:nvSpPr>
        <p:spPr>
          <a:xfrm>
            <a:off x="8858250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核对结果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practicum-body-3"/>
          <p:cNvSpPr>
            <a:spLocks noGrp="1"/>
          </p:cNvSpPr>
          <p:nvPr/>
        </p:nvSpPr>
        <p:spPr>
          <a:xfrm>
            <a:off x="8267700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先查日期和总消耗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再抽样核对分媒体数据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确认后才长期运行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practicum-output-box"/>
          <p:cNvSpPr>
            <a:spLocks noGrp="1"/>
          </p:cNvSpPr>
          <p:nvPr/>
        </p:nvSpPr>
        <p:spPr>
          <a:xfrm>
            <a:off x="819150" y="4810125"/>
            <a:ext cx="10515600" cy="1200150"/>
          </a:xfrm>
          <a:prstGeom prst="roundRect">
            <a:avLst>
              <a:gd name="adj" fmla="val 14286"/>
            </a:avLst>
          </a:prstGeom>
          <a:solidFill>
            <a:srgbClr val="1C2F51"/>
          </a:solidFill>
          <a:ln w="9525">
            <a:solidFill>
              <a:srgbClr val="1C2F51"/>
            </a:solidFill>
            <a:prstDash val="solid"/>
          </a:ln>
        </p:spPr>
      </p:sp>
      <p:sp>
        <p:nvSpPr>
          <p:cNvPr id="16" name="practicum-output-label"/>
          <p:cNvSpPr>
            <a:spLocks noGrp="1"/>
          </p:cNvSpPr>
          <p:nvPr/>
        </p:nvSpPr>
        <p:spPr>
          <a:xfrm>
            <a:off x="1143000" y="4991100"/>
            <a:ext cx="2095500" cy="4000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现场交付</a:t>
            </a:r>
            <a:endParaRPr sz="1425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practicum-output-text"/>
          <p:cNvSpPr>
            <a:spLocks noGrp="1"/>
          </p:cNvSpPr>
          <p:nvPr/>
        </p:nvSpPr>
        <p:spPr>
          <a:xfrm>
            <a:off x="1143000" y="5324475"/>
            <a:ext cx="9829800" cy="4762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一条能跑通、能核对、以后可以继续扩展的</a:t>
            </a:r>
            <a:r>
              <a:rPr lang="zh-CN"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投放</a:t>
            </a: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日报</a:t>
            </a:r>
            <a:r>
              <a:rPr lang="en-US"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数据清洗</a:t>
            </a:r>
            <a:r>
              <a:rPr lang="en-US" altLang="zh-CN"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数据监控报警</a:t>
            </a: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链路</a:t>
            </a:r>
            <a:r>
              <a:rPr lang="zh-CN"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zh-CN"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practicum-time"/>
          <p:cNvSpPr>
            <a:spLocks noGrp="1"/>
          </p:cNvSpPr>
          <p:nvPr/>
        </p:nvSpPr>
        <p:spPr>
          <a:xfrm>
            <a:off x="9620250" y="6229350"/>
            <a:ext cx="1714500" cy="2857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r">
              <a:defRPr sz="1200" b="0">
                <a:solidFill>
                  <a:srgbClr val="7C879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C879F"/>
                </a:solidFill>
                <a:latin typeface="微软雅黑"/>
                <a:ea typeface="微软雅黑"/>
                <a:cs typeface="微软雅黑"/>
              </a:rPr>
              <a:t>建议 9 分钟</a:t>
            </a:r>
            <a:endParaRPr sz="1200" b="0">
              <a:solidFill>
                <a:srgbClr val="7C879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870" y="902970"/>
            <a:ext cx="8239125" cy="36296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44440"/>
            <a:ext cx="12192000" cy="10267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49170" y="680720"/>
            <a:ext cx="7693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输入：数据</a:t>
            </a:r>
            <a:r>
              <a:rPr lang="zh-CN" altLang="en-US"/>
              <a:t>源长什么样、要做成什么样、以什么逻辑聚合、呈现格式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29940" y="4532630"/>
            <a:ext cx="5532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输出：格式数据正确，汇总逻辑正确的</a:t>
            </a:r>
            <a:r>
              <a:rPr lang="zh-CN" altLang="en-US"/>
              <a:t>数据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822960" y="640080"/>
            <a:ext cx="105156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实操二前：小改动不难，真正耗人的是等待</a:t>
            </a:r>
            <a:endParaRPr sz="3200" b="1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822960" y="1508760"/>
            <a:ext cx="1051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900" b="0" i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反复对齐、临时插单和上下文切换，才是隐藏成本。</a:t>
            </a:r>
            <a:endParaRPr sz="1900" b="0" i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117475" y="2377440"/>
            <a:ext cx="4206240" cy="3566160"/>
          </a:xfrm>
          <a:prstGeom prst="round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37515" y="26517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800" b="0" i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这笔账怎么算</a:t>
            </a:r>
            <a:endParaRPr sz="1800" b="0" i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437515" y="3200400"/>
            <a:ext cx="4206240" cy="953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 b="0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以前：</a:t>
            </a:r>
            <a:endParaRPr sz="2200" b="0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提需求、等排期</a:t>
            </a:r>
            <a:endParaRPr sz="4000" b="1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37515" y="4480560"/>
            <a:ext cx="3629025" cy="144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 b="0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现在：</a:t>
            </a:r>
            <a:endParaRPr sz="2200" b="0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6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提交后去做别的</a:t>
            </a:r>
            <a:r>
              <a:rPr lang="zh-CN" sz="36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，稍后回来验收</a:t>
            </a:r>
            <a:endParaRPr lang="zh-CN" sz="3600" b="1" i="0">
              <a:solidFill>
                <a:srgbClr val="E8743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8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755" y="2023110"/>
            <a:ext cx="3934460" cy="2235835"/>
          </a:xfrm>
          <a:prstGeom prst="rect">
            <a:avLst/>
          </a:prstGeom>
        </p:spPr>
      </p:pic>
      <p:pic>
        <p:nvPicPr>
          <p:cNvPr id="19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215" y="1132205"/>
            <a:ext cx="3162300" cy="5124450"/>
          </a:xfrm>
          <a:prstGeom prst="rect">
            <a:avLst/>
          </a:prstGeom>
        </p:spPr>
      </p:pic>
      <p:sp>
        <p:nvSpPr>
          <p:cNvPr id="10" name="impact-bar-14"/>
          <p:cNvSpPr>
            <a:spLocks noGrp="1"/>
          </p:cNvSpPr>
          <p:nvPr/>
        </p:nvSpPr>
        <p:spPr>
          <a:xfrm>
            <a:off x="819150" y="6143625"/>
            <a:ext cx="10515600" cy="400050"/>
          </a:xfrm>
          <a:prstGeom prst="roundRect">
            <a:avLst>
              <a:gd name="adj" fmla="val 42857"/>
            </a:avLst>
          </a:prstGeom>
          <a:solidFill>
            <a:srgbClr val="FFF2E8"/>
          </a:solidFill>
          <a:ln w="9525">
            <a:solidFill>
              <a:srgbClr val="FFF2E8"/>
            </a:solidFill>
            <a:prstDash val="solid"/>
          </a:ln>
        </p:spPr>
      </p:sp>
      <p:sp>
        <p:nvSpPr>
          <p:cNvPr id="11" name="impact-text-14"/>
          <p:cNvSpPr>
            <a:spLocks noGrp="1"/>
          </p:cNvSpPr>
          <p:nvPr/>
        </p:nvSpPr>
        <p:spPr>
          <a:xfrm>
            <a:off x="1028700" y="6162675"/>
            <a:ext cx="10096500" cy="3619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影响：优化师少切换，设计师少接规则明确的低价值插单</a:t>
            </a:r>
            <a:endParaRPr sz="1500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practicum-title"/>
          <p:cNvSpPr>
            <a:spLocks noGrp="1"/>
          </p:cNvSpPr>
          <p:nvPr/>
        </p:nvSpPr>
        <p:spPr>
          <a:xfrm>
            <a:off x="819150" y="514350"/>
            <a:ext cx="10553700" cy="5905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实操二｜改图片尺寸，并把过程沉淀成 Skill</a:t>
            </a:r>
            <a:endParaRPr sz="27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racticum-subtitle"/>
          <p:cNvSpPr>
            <a:spLocks noGrp="1"/>
          </p:cNvSpPr>
          <p:nvPr/>
        </p:nvSpPr>
        <p:spPr>
          <a:xfrm>
            <a:off x="819150" y="1133475"/>
            <a:ext cx="10553700" cy="4572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现场不只看一张图能不能改对，还要把“改对的方法”留下来。</a:t>
            </a:r>
            <a:endParaRPr sz="157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practicum-card-1"/>
          <p:cNvSpPr>
            <a:spLocks noGrp="1"/>
          </p:cNvSpPr>
          <p:nvPr/>
        </p:nvSpPr>
        <p:spPr>
          <a:xfrm>
            <a:off x="819150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4" name="practicum-number-1"/>
          <p:cNvSpPr>
            <a:spLocks noGrp="1"/>
          </p:cNvSpPr>
          <p:nvPr/>
        </p:nvSpPr>
        <p:spPr>
          <a:xfrm>
            <a:off x="1047750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racticum-label-1"/>
          <p:cNvSpPr>
            <a:spLocks noGrp="1"/>
          </p:cNvSpPr>
          <p:nvPr/>
        </p:nvSpPr>
        <p:spPr>
          <a:xfrm>
            <a:off x="1676400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写边界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acticum-body-1"/>
          <p:cNvSpPr>
            <a:spLocks noGrp="1"/>
          </p:cNvSpPr>
          <p:nvPr/>
        </p:nvSpPr>
        <p:spPr>
          <a:xfrm>
            <a:off x="1085850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目标尺寸 / 只改哪里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什么绝对不能动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输出数量和格式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racticum-card-2"/>
          <p:cNvSpPr>
            <a:spLocks noGrp="1"/>
          </p:cNvSpPr>
          <p:nvPr/>
        </p:nvSpPr>
        <p:spPr>
          <a:xfrm>
            <a:off x="4410075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8" name="practicum-number-2"/>
          <p:cNvSpPr>
            <a:spLocks noGrp="1"/>
          </p:cNvSpPr>
          <p:nvPr/>
        </p:nvSpPr>
        <p:spPr>
          <a:xfrm>
            <a:off x="4638675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practicum-label-2"/>
          <p:cNvSpPr>
            <a:spLocks noGrp="1"/>
          </p:cNvSpPr>
          <p:nvPr/>
        </p:nvSpPr>
        <p:spPr>
          <a:xfrm>
            <a:off x="5267325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跑第一版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practicum-body-2"/>
          <p:cNvSpPr>
            <a:spLocks noGrp="1"/>
          </p:cNvSpPr>
          <p:nvPr/>
        </p:nvSpPr>
        <p:spPr>
          <a:xfrm>
            <a:off x="4676775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让 AI 执行尺寸适配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观察它有没有擅自改文案、构图和 Logo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practicum-card-3"/>
          <p:cNvSpPr>
            <a:spLocks noGrp="1"/>
          </p:cNvSpPr>
          <p:nvPr/>
        </p:nvSpPr>
        <p:spPr>
          <a:xfrm>
            <a:off x="8001000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12" name="practicum-number-3"/>
          <p:cNvSpPr>
            <a:spLocks noGrp="1"/>
          </p:cNvSpPr>
          <p:nvPr/>
        </p:nvSpPr>
        <p:spPr>
          <a:xfrm>
            <a:off x="8229600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racticum-label-3"/>
          <p:cNvSpPr>
            <a:spLocks noGrp="1"/>
          </p:cNvSpPr>
          <p:nvPr/>
        </p:nvSpPr>
        <p:spPr>
          <a:xfrm>
            <a:off x="8858250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验收沉淀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practicum-body-3"/>
          <p:cNvSpPr>
            <a:spLocks noGrp="1"/>
          </p:cNvSpPr>
          <p:nvPr/>
        </p:nvSpPr>
        <p:spPr>
          <a:xfrm>
            <a:off x="8267700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核对尺寸、文案和品牌元素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把纠偏过程总结成可复用 Skill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practicum-output-box"/>
          <p:cNvSpPr>
            <a:spLocks noGrp="1"/>
          </p:cNvSpPr>
          <p:nvPr/>
        </p:nvSpPr>
        <p:spPr>
          <a:xfrm>
            <a:off x="819150" y="4810125"/>
            <a:ext cx="10515600" cy="1200150"/>
          </a:xfrm>
          <a:prstGeom prst="roundRect">
            <a:avLst>
              <a:gd name="adj" fmla="val 14286"/>
            </a:avLst>
          </a:prstGeom>
          <a:solidFill>
            <a:srgbClr val="1C2F51"/>
          </a:solidFill>
          <a:ln w="9525">
            <a:solidFill>
              <a:srgbClr val="1C2F51"/>
            </a:solidFill>
            <a:prstDash val="solid"/>
          </a:ln>
        </p:spPr>
      </p:sp>
      <p:sp>
        <p:nvSpPr>
          <p:cNvPr id="16" name="practicum-output-label"/>
          <p:cNvSpPr>
            <a:spLocks noGrp="1"/>
          </p:cNvSpPr>
          <p:nvPr/>
        </p:nvSpPr>
        <p:spPr>
          <a:xfrm>
            <a:off x="1143000" y="4991100"/>
            <a:ext cx="2095500" cy="4000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现场交付</a:t>
            </a:r>
            <a:endParaRPr sz="1425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practicum-output-text"/>
          <p:cNvSpPr>
            <a:spLocks noGrp="1"/>
          </p:cNvSpPr>
          <p:nvPr/>
        </p:nvSpPr>
        <p:spPr>
          <a:xfrm>
            <a:off x="1143000" y="5324475"/>
            <a:ext cx="9829800" cy="4762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一张正确尺寸的图片 + 一套下次可直接复用的流程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practicum-time"/>
          <p:cNvSpPr>
            <a:spLocks noGrp="1"/>
          </p:cNvSpPr>
          <p:nvPr/>
        </p:nvSpPr>
        <p:spPr>
          <a:xfrm>
            <a:off x="9620250" y="6229350"/>
            <a:ext cx="1714500" cy="2857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r">
              <a:defRPr sz="1200" b="0">
                <a:solidFill>
                  <a:srgbClr val="7C879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C879F"/>
                </a:solidFill>
                <a:latin typeface="微软雅黑"/>
                <a:ea typeface="微软雅黑"/>
                <a:cs typeface="微软雅黑"/>
              </a:rPr>
              <a:t>建议 7 分钟</a:t>
            </a:r>
            <a:endParaRPr sz="1200" b="0">
              <a:solidFill>
                <a:srgbClr val="7C879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945" y="804545"/>
            <a:ext cx="9772650" cy="1619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470" y="2849880"/>
            <a:ext cx="7467600" cy="33235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38420" y="3676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28895" y="2314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输出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822960" y="640080"/>
            <a:ext cx="105156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实操三前：资料很多，为什么不能直接让 AI 出</a:t>
            </a:r>
            <a:r>
              <a:rPr lang="zh-CN" sz="32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方案</a:t>
            </a:r>
            <a:endParaRPr lang="zh-CN" sz="3200" b="1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822960" y="1508760"/>
            <a:ext cx="105156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900" b="0" i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真正的问题不是资料多，而是不同来源还没有变成同一套判断标准。</a:t>
            </a:r>
            <a:endParaRPr sz="1900" b="0" i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822960" y="2377440"/>
            <a:ext cx="4846320" cy="3566160"/>
          </a:xfrm>
          <a:prstGeom prst="round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143000" y="265176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800" b="0" i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原来的痛点</a:t>
            </a:r>
            <a:endParaRPr sz="1800" b="0" i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143000" y="3200400"/>
            <a:ext cx="4206240" cy="953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 b="0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从 0 到 1</a:t>
            </a:r>
            <a:endParaRPr sz="2200" b="0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规划新品</a:t>
            </a:r>
            <a:r>
              <a:rPr lang="zh-CN" sz="40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卖点</a:t>
            </a:r>
            <a:endParaRPr lang="zh-CN" sz="4000" b="1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1143000" y="4480560"/>
            <a:ext cx="4206240" cy="1261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b="0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输入：</a:t>
            </a:r>
            <a:endParaRPr b="0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lang="zh-CN" sz="32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让</a:t>
            </a:r>
            <a:r>
              <a:rPr lang="en-US" altLang="zh-CN" sz="32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32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采访</a:t>
            </a:r>
            <a:r>
              <a:rPr lang="zh-CN" sz="32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，我</a:t>
            </a:r>
            <a:r>
              <a:rPr sz="32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回复</a:t>
            </a:r>
            <a:endParaRPr sz="3200" b="1" i="0">
              <a:solidFill>
                <a:srgbClr val="E8743B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lang="zh-CN" sz="32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之后</a:t>
            </a:r>
            <a:r>
              <a:rPr lang="en-US" altLang="zh-CN" sz="32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lang="zh-CN" altLang="en-US" sz="3200" b="1" i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告诉我需要什么</a:t>
            </a:r>
            <a:endParaRPr lang="zh-CN" altLang="en-US" sz="3200" b="1" i="0">
              <a:solidFill>
                <a:srgbClr val="E8743B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7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1535" y="2031365"/>
            <a:ext cx="5814695" cy="4029075"/>
          </a:xfrm>
          <a:prstGeom prst="rect">
            <a:avLst/>
          </a:prstGeom>
        </p:spPr>
      </p:pic>
      <p:sp>
        <p:nvSpPr>
          <p:cNvPr id="9" name="impact-bar-8"/>
          <p:cNvSpPr>
            <a:spLocks noGrp="1"/>
          </p:cNvSpPr>
          <p:nvPr/>
        </p:nvSpPr>
        <p:spPr>
          <a:xfrm>
            <a:off x="819150" y="6143625"/>
            <a:ext cx="10515600" cy="400050"/>
          </a:xfrm>
          <a:prstGeom prst="roundRect">
            <a:avLst>
              <a:gd name="adj" fmla="val 42857"/>
            </a:avLst>
          </a:prstGeom>
          <a:solidFill>
            <a:srgbClr val="FFF2E8"/>
          </a:solidFill>
          <a:ln w="9525">
            <a:solidFill>
              <a:srgbClr val="FFF2E8"/>
            </a:solidFill>
            <a:prstDash val="solid"/>
          </a:ln>
        </p:spPr>
      </p:sp>
      <p:sp>
        <p:nvSpPr>
          <p:cNvPr id="10" name="impact-text-8"/>
          <p:cNvSpPr>
            <a:spLocks noGrp="1"/>
          </p:cNvSpPr>
          <p:nvPr/>
        </p:nvSpPr>
        <p:spPr>
          <a:xfrm>
            <a:off x="1028700" y="6162675"/>
            <a:ext cx="10096500" cy="3619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做完以后：从“面对空白”变成“拿着 brief 判断和修改”</a:t>
            </a:r>
            <a:endParaRPr sz="1500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practicum-title"/>
          <p:cNvSpPr>
            <a:spLocks noGrp="1"/>
          </p:cNvSpPr>
          <p:nvPr/>
        </p:nvSpPr>
        <p:spPr>
          <a:xfrm>
            <a:off x="819150" y="514350"/>
            <a:ext cx="10553700" cy="5905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实操三｜</a:t>
            </a:r>
            <a:r>
              <a:rPr lang="zh-CN"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以内部</a:t>
            </a:r>
            <a:r>
              <a: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 adswin </a:t>
            </a:r>
            <a:r>
              <a:rPr lang="zh-CN"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为例，</a:t>
            </a:r>
            <a:r>
              <a: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梳理产品信息并规划卖点</a:t>
            </a:r>
            <a:endParaRPr sz="27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racticum-subtitle"/>
          <p:cNvSpPr>
            <a:spLocks noGrp="1"/>
          </p:cNvSpPr>
          <p:nvPr/>
        </p:nvSpPr>
        <p:spPr>
          <a:xfrm>
            <a:off x="819150" y="1133475"/>
            <a:ext cx="10553700" cy="4572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57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先让 AI 采访和整理，再让它生产；现场重点看它有没有真正理解。</a:t>
            </a:r>
            <a:endParaRPr sz="157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practicum-card-1"/>
          <p:cNvSpPr>
            <a:spLocks noGrp="1"/>
          </p:cNvSpPr>
          <p:nvPr/>
        </p:nvSpPr>
        <p:spPr>
          <a:xfrm>
            <a:off x="819150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4" name="practicum-number-1"/>
          <p:cNvSpPr>
            <a:spLocks noGrp="1"/>
          </p:cNvSpPr>
          <p:nvPr/>
        </p:nvSpPr>
        <p:spPr>
          <a:xfrm>
            <a:off x="1047750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practicum-label-1"/>
          <p:cNvSpPr>
            <a:spLocks noGrp="1"/>
          </p:cNvSpPr>
          <p:nvPr/>
        </p:nvSpPr>
        <p:spPr>
          <a:xfrm>
            <a:off x="1676400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给输入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acticum-body-1"/>
          <p:cNvSpPr>
            <a:spLocks noGrp="1"/>
          </p:cNvSpPr>
          <p:nvPr/>
        </p:nvSpPr>
        <p:spPr>
          <a:xfrm>
            <a:off x="1085850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产品页 / 产品说明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目标受众 / 使用场景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明确每份资料的用途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racticum-card-2"/>
          <p:cNvSpPr>
            <a:spLocks noGrp="1"/>
          </p:cNvSpPr>
          <p:nvPr/>
        </p:nvSpPr>
        <p:spPr>
          <a:xfrm>
            <a:off x="4410075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8" name="practicum-number-2"/>
          <p:cNvSpPr>
            <a:spLocks noGrp="1"/>
          </p:cNvSpPr>
          <p:nvPr/>
        </p:nvSpPr>
        <p:spPr>
          <a:xfrm>
            <a:off x="4638675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practicum-label-2"/>
          <p:cNvSpPr>
            <a:spLocks noGrp="1"/>
          </p:cNvSpPr>
          <p:nvPr/>
        </p:nvSpPr>
        <p:spPr>
          <a:xfrm>
            <a:off x="5267325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跑第一轮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practicum-body-2"/>
          <p:cNvSpPr>
            <a:spLocks noGrp="1"/>
          </p:cNvSpPr>
          <p:nvPr/>
        </p:nvSpPr>
        <p:spPr>
          <a:xfrm>
            <a:off x="4676775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让 AI 先提问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形成用户、场景、卖点和边界的 brief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practicum-card-3"/>
          <p:cNvSpPr>
            <a:spLocks noGrp="1"/>
          </p:cNvSpPr>
          <p:nvPr/>
        </p:nvSpPr>
        <p:spPr>
          <a:xfrm>
            <a:off x="8001000" y="1952625"/>
            <a:ext cx="3276600" cy="247650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12" name="practicum-number-3"/>
          <p:cNvSpPr>
            <a:spLocks noGrp="1"/>
          </p:cNvSpPr>
          <p:nvPr/>
        </p:nvSpPr>
        <p:spPr>
          <a:xfrm>
            <a:off x="8229600" y="217170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practicum-label-3"/>
          <p:cNvSpPr>
            <a:spLocks noGrp="1"/>
          </p:cNvSpPr>
          <p:nvPr/>
        </p:nvSpPr>
        <p:spPr>
          <a:xfrm>
            <a:off x="8858250" y="2133600"/>
            <a:ext cx="2114550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现场验收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practicum-body-3"/>
          <p:cNvSpPr>
            <a:spLocks noGrp="1"/>
          </p:cNvSpPr>
          <p:nvPr/>
        </p:nvSpPr>
        <p:spPr>
          <a:xfrm>
            <a:off x="8267700" y="2838450"/>
            <a:ext cx="2743200" cy="131445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追问卖点依据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删掉空话和无证据结论</a:t>
            </a:r>
            <a:endParaRPr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再决定是否</a:t>
            </a:r>
            <a:r>
              <a:rPr lang="zh-CN" sz="142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深化</a:t>
            </a:r>
            <a:endParaRPr lang="zh-CN" sz="142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practicum-output-box"/>
          <p:cNvSpPr>
            <a:spLocks noGrp="1"/>
          </p:cNvSpPr>
          <p:nvPr/>
        </p:nvSpPr>
        <p:spPr>
          <a:xfrm>
            <a:off x="819150" y="4810125"/>
            <a:ext cx="10515600" cy="1200150"/>
          </a:xfrm>
          <a:prstGeom prst="roundRect">
            <a:avLst>
              <a:gd name="adj" fmla="val 14286"/>
            </a:avLst>
          </a:prstGeom>
          <a:solidFill>
            <a:srgbClr val="1C2F51"/>
          </a:solidFill>
          <a:ln w="9525">
            <a:solidFill>
              <a:srgbClr val="1C2F51"/>
            </a:solidFill>
            <a:prstDash val="solid"/>
          </a:ln>
        </p:spPr>
      </p:sp>
      <p:sp>
        <p:nvSpPr>
          <p:cNvPr id="16" name="practicum-output-label"/>
          <p:cNvSpPr>
            <a:spLocks noGrp="1"/>
          </p:cNvSpPr>
          <p:nvPr/>
        </p:nvSpPr>
        <p:spPr>
          <a:xfrm>
            <a:off x="1143000" y="4991100"/>
            <a:ext cx="2095500" cy="4000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425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现场交付</a:t>
            </a:r>
            <a:endParaRPr sz="1425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practicum-output-text"/>
          <p:cNvSpPr>
            <a:spLocks noGrp="1"/>
          </p:cNvSpPr>
          <p:nvPr/>
        </p:nvSpPr>
        <p:spPr>
          <a:xfrm>
            <a:off x="1143000" y="5324475"/>
            <a:ext cx="9829800" cy="4762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一份可验收的产品 brief + 第一批卖点方向</a:t>
            </a:r>
            <a:endParaRPr sz="187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practicum-time"/>
          <p:cNvSpPr>
            <a:spLocks noGrp="1"/>
          </p:cNvSpPr>
          <p:nvPr/>
        </p:nvSpPr>
        <p:spPr>
          <a:xfrm>
            <a:off x="9620250" y="6229350"/>
            <a:ext cx="1714500" cy="2857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r">
              <a:defRPr sz="1200" b="0">
                <a:solidFill>
                  <a:srgbClr val="7C879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C879F"/>
                </a:solidFill>
                <a:latin typeface="微软雅黑"/>
                <a:ea typeface="微软雅黑"/>
                <a:cs typeface="微软雅黑"/>
              </a:rPr>
              <a:t>建议 8 分钟</a:t>
            </a:r>
            <a:endParaRPr sz="1200" b="0">
              <a:solidFill>
                <a:srgbClr val="7C879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080" y="176530"/>
            <a:ext cx="6399530" cy="15627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072380" y="3835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2052320"/>
            <a:ext cx="4483735" cy="4541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72380" y="16840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输出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325" y="3268980"/>
            <a:ext cx="5397500" cy="22040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practicum-title"/>
          <p:cNvSpPr>
            <a:spLocks noGrp="1"/>
          </p:cNvSpPr>
          <p:nvPr/>
        </p:nvSpPr>
        <p:spPr>
          <a:xfrm>
            <a:off x="819150" y="514350"/>
            <a:ext cx="10553700" cy="590550"/>
          </a:xfrm>
          <a:prstGeom prst="rect">
            <a:avLst/>
          </a:prstGeom>
          <a:ln w="0">
            <a:noFill/>
          </a:ln>
        </p:spPr>
        <p:txBody>
          <a:bodyPr anchor="ctr"/>
          <a:p>
            <a:pPr algn="l">
              <a:defRPr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这个玩法还可以</a:t>
            </a:r>
            <a:r>
              <a:rPr lang="zh-CN" sz="27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用在……</a:t>
            </a:r>
            <a:endParaRPr lang="zh-CN" sz="27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practicum-card-1"/>
          <p:cNvSpPr>
            <a:spLocks noGrp="1"/>
          </p:cNvSpPr>
          <p:nvPr/>
        </p:nvSpPr>
        <p:spPr>
          <a:xfrm>
            <a:off x="819150" y="1508125"/>
            <a:ext cx="9200515" cy="94742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5" name="practicum-label-1"/>
          <p:cNvSpPr>
            <a:spLocks noGrp="1"/>
          </p:cNvSpPr>
          <p:nvPr/>
        </p:nvSpPr>
        <p:spPr>
          <a:xfrm>
            <a:off x="1165225" y="1705610"/>
            <a:ext cx="8826500" cy="552450"/>
          </a:xfrm>
          <a:prstGeom prst="rect">
            <a:avLst/>
          </a:prstGeom>
          <a:ln w="0">
            <a:noFill/>
          </a:ln>
        </p:spPr>
        <p:txBody>
          <a:bodyPr anchor="ctr"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lang="zh-CN" altLang="en-US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实操经验很多，想准备一门公开课，但不知道从何开始。</a:t>
            </a:r>
            <a:endParaRPr lang="zh-CN" altLang="en-US" sz="2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practicum-card-1"/>
          <p:cNvSpPr>
            <a:spLocks noGrp="1"/>
          </p:cNvSpPr>
          <p:nvPr/>
        </p:nvSpPr>
        <p:spPr>
          <a:xfrm>
            <a:off x="819150" y="2858770"/>
            <a:ext cx="9200515" cy="94742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6" name="practicum-label-1"/>
          <p:cNvSpPr>
            <a:spLocks noGrp="1"/>
          </p:cNvSpPr>
          <p:nvPr/>
        </p:nvSpPr>
        <p:spPr>
          <a:xfrm>
            <a:off x="1165225" y="3056255"/>
            <a:ext cx="8826500" cy="552450"/>
          </a:xfrm>
          <a:prstGeom prst="rect">
            <a:avLst/>
          </a:prstGeom>
          <a:ln w="0">
            <a:noFill/>
          </a:ln>
        </p:spPr>
        <p:txBody>
          <a:bodyPr anchor="ctr"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做工作汇报，自己做过很多事，但总感觉抓不住重点。</a:t>
            </a:r>
            <a:endParaRPr lang="zh-CN" altLang="en-US" sz="2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practicum-card-1"/>
          <p:cNvSpPr>
            <a:spLocks noGrp="1"/>
          </p:cNvSpPr>
          <p:nvPr/>
        </p:nvSpPr>
        <p:spPr>
          <a:xfrm>
            <a:off x="819150" y="4209415"/>
            <a:ext cx="9200515" cy="947420"/>
          </a:xfrm>
          <a:prstGeom prst="roundRect">
            <a:avLst>
              <a:gd name="adj" fmla="val 6923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9" name="practicum-label-1"/>
          <p:cNvSpPr>
            <a:spLocks noGrp="1"/>
          </p:cNvSpPr>
          <p:nvPr/>
        </p:nvSpPr>
        <p:spPr>
          <a:xfrm>
            <a:off x="1165225" y="4406900"/>
            <a:ext cx="8826500" cy="552450"/>
          </a:xfrm>
          <a:prstGeom prst="rect">
            <a:avLst/>
          </a:prstGeom>
          <a:ln w="0">
            <a:noFill/>
          </a:ln>
        </p:spPr>
        <p:txBody>
          <a:bodyPr anchor="ctr"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探讨</a:t>
            </a:r>
            <a:r>
              <a:rPr lang="zh-CN" altLang="en-US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个人成长规划。</a:t>
            </a:r>
            <a:endParaRPr lang="zh-CN" altLang="en-US" sz="2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914400" y="201168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 spc="80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复盘</a:t>
            </a:r>
            <a:endParaRPr sz="2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刚才三场实操，背后只有三种交法</a:t>
            </a:r>
            <a:endParaRPr sz="5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automation-title"/>
          <p:cNvSpPr>
            <a:spLocks noGrp="1"/>
          </p:cNvSpPr>
          <p:nvPr/>
        </p:nvSpPr>
        <p:spPr>
          <a:xfrm>
            <a:off x="819150" y="628650"/>
            <a:ext cx="10515600" cy="6286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30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复盘一：什么时候值得自动化</a:t>
            </a:r>
            <a:endParaRPr sz="30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automation-subtitle"/>
          <p:cNvSpPr>
            <a:spLocks noGrp="1"/>
          </p:cNvSpPr>
          <p:nvPr/>
        </p:nvSpPr>
        <p:spPr>
          <a:xfrm>
            <a:off x="819150" y="1257300"/>
            <a:ext cx="10515600" cy="4191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57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不是所有小事都要搭系统，先看它是否足够稳定。</a:t>
            </a:r>
            <a:endParaRPr sz="1575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automation-card-1"/>
          <p:cNvSpPr>
            <a:spLocks noGrp="1"/>
          </p:cNvSpPr>
          <p:nvPr/>
        </p:nvSpPr>
        <p:spPr>
          <a:xfrm>
            <a:off x="819150" y="2143125"/>
            <a:ext cx="3276600" cy="2095500"/>
          </a:xfrm>
          <a:prstGeom prst="roundRect">
            <a:avLst>
              <a:gd name="adj" fmla="val 8182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4" name="automation-number-1"/>
          <p:cNvSpPr>
            <a:spLocks noGrp="1"/>
          </p:cNvSpPr>
          <p:nvPr/>
        </p:nvSpPr>
        <p:spPr>
          <a:xfrm>
            <a:off x="2200275" y="238125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automation-label-1"/>
          <p:cNvSpPr>
            <a:spLocks noGrp="1"/>
          </p:cNvSpPr>
          <p:nvPr/>
        </p:nvSpPr>
        <p:spPr>
          <a:xfrm>
            <a:off x="1085850" y="3038475"/>
            <a:ext cx="2743200" cy="523875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025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频率固定</a:t>
            </a:r>
            <a:endParaRPr sz="2025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automation-body-1"/>
          <p:cNvSpPr>
            <a:spLocks noGrp="1"/>
          </p:cNvSpPr>
          <p:nvPr/>
        </p:nvSpPr>
        <p:spPr>
          <a:xfrm>
            <a:off x="1085850" y="3600450"/>
            <a:ext cx="2743200" cy="4191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每天、每周重复发生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tomation-card-2"/>
          <p:cNvSpPr>
            <a:spLocks noGrp="1"/>
          </p:cNvSpPr>
          <p:nvPr/>
        </p:nvSpPr>
        <p:spPr>
          <a:xfrm>
            <a:off x="4410075" y="2143125"/>
            <a:ext cx="3276600" cy="2095500"/>
          </a:xfrm>
          <a:prstGeom prst="roundRect">
            <a:avLst>
              <a:gd name="adj" fmla="val 8182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8" name="automation-number-2"/>
          <p:cNvSpPr>
            <a:spLocks noGrp="1"/>
          </p:cNvSpPr>
          <p:nvPr/>
        </p:nvSpPr>
        <p:spPr>
          <a:xfrm>
            <a:off x="5791200" y="238125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automation-label-2"/>
          <p:cNvSpPr>
            <a:spLocks noGrp="1"/>
          </p:cNvSpPr>
          <p:nvPr/>
        </p:nvSpPr>
        <p:spPr>
          <a:xfrm>
            <a:off x="4676775" y="3038475"/>
            <a:ext cx="2743200" cy="523875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025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输入固定</a:t>
            </a:r>
            <a:endParaRPr sz="2025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utomation-body-2"/>
          <p:cNvSpPr>
            <a:spLocks noGrp="1"/>
          </p:cNvSpPr>
          <p:nvPr/>
        </p:nvSpPr>
        <p:spPr>
          <a:xfrm>
            <a:off x="4676775" y="3600450"/>
            <a:ext cx="2743200" cy="4191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字段、格式和来源稳定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utomation-card-3"/>
          <p:cNvSpPr>
            <a:spLocks noGrp="1"/>
          </p:cNvSpPr>
          <p:nvPr/>
        </p:nvSpPr>
        <p:spPr>
          <a:xfrm>
            <a:off x="8001000" y="2143125"/>
            <a:ext cx="3276600" cy="2095500"/>
          </a:xfrm>
          <a:prstGeom prst="roundRect">
            <a:avLst>
              <a:gd name="adj" fmla="val 8182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12" name="automation-number-3"/>
          <p:cNvSpPr>
            <a:spLocks noGrp="1"/>
          </p:cNvSpPr>
          <p:nvPr/>
        </p:nvSpPr>
        <p:spPr>
          <a:xfrm>
            <a:off x="9382125" y="238125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automation-label-3"/>
          <p:cNvSpPr>
            <a:spLocks noGrp="1"/>
          </p:cNvSpPr>
          <p:nvPr/>
        </p:nvSpPr>
        <p:spPr>
          <a:xfrm>
            <a:off x="8267700" y="3038475"/>
            <a:ext cx="2743200" cy="523875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2025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输出固定</a:t>
            </a:r>
            <a:endParaRPr sz="2025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utomation-body-3"/>
          <p:cNvSpPr>
            <a:spLocks noGrp="1"/>
          </p:cNvSpPr>
          <p:nvPr/>
        </p:nvSpPr>
        <p:spPr>
          <a:xfrm>
            <a:off x="8267700" y="3600450"/>
            <a:ext cx="2743200" cy="4191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结果口径可以核对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automation-rule-box"/>
          <p:cNvSpPr>
            <a:spLocks noGrp="1"/>
          </p:cNvSpPr>
          <p:nvPr/>
        </p:nvSpPr>
        <p:spPr>
          <a:xfrm>
            <a:off x="1714500" y="4810125"/>
            <a:ext cx="8763000" cy="1047750"/>
          </a:xfrm>
          <a:prstGeom prst="roundRect">
            <a:avLst>
              <a:gd name="adj" fmla="val 16364"/>
            </a:avLst>
          </a:prstGeom>
          <a:solidFill>
            <a:srgbClr val="1C2F51"/>
          </a:solidFill>
          <a:ln w="9525">
            <a:solidFill>
              <a:srgbClr val="1C2F51"/>
            </a:solidFill>
            <a:prstDash val="solid"/>
          </a:ln>
        </p:spPr>
      </p:sp>
      <p:sp>
        <p:nvSpPr>
          <p:cNvPr id="16" name="automation-rule"/>
          <p:cNvSpPr>
            <a:spLocks noGrp="1"/>
          </p:cNvSpPr>
          <p:nvPr/>
        </p:nvSpPr>
        <p:spPr>
          <a:xfrm>
            <a:off x="2095500" y="4953000"/>
            <a:ext cx="8001000" cy="7429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满足两到三条，再考虑自动化；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否则先用“人工判断 + AI 半自动”跑通。</a:t>
            </a:r>
            <a:endParaRPr sz="1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复盘二：什么任务适合异步交办</a:t>
            </a:r>
            <a:endParaRPr sz="32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822960" y="173736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234440" y="2148840"/>
            <a:ext cx="914400" cy="914400"/>
          </a:xfrm>
          <a:prstGeom prst="ellipse">
            <a:avLst/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77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>
            <a:spLocks noGrp="1"/>
          </p:cNvSpPr>
          <p:nvPr/>
        </p:nvSpPr>
        <p:spPr>
          <a:xfrm>
            <a:off x="1234440" y="329184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适合交给 AI</a:t>
            </a:r>
            <a:endParaRPr sz="26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1234440" y="402336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左右对调、尺寸适配、小语种本地化、轻量同义改写</a:t>
            </a:r>
            <a:endParaRPr sz="18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217920" y="173736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629400" y="2148840"/>
            <a:ext cx="914400" cy="914400"/>
          </a:xfrm>
          <a:prstGeom prst="ellipse">
            <a:avLst/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77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>
            <a:spLocks noGrp="1"/>
          </p:cNvSpPr>
          <p:nvPr/>
        </p:nvSpPr>
        <p:spPr>
          <a:xfrm>
            <a:off x="6629400" y="3291840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先别全交给 AI</a:t>
            </a:r>
            <a:endParaRPr sz="26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6629400" y="402336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原创方向、品牌判断、核心概念、没有明确标准的设计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复盘二：先实践，再让 AI 总结成 Skill</a:t>
            </a:r>
            <a:endParaRPr sz="3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705" y="1537970"/>
            <a:ext cx="9145905" cy="46913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复盘三：资料越多，越要说明每份资料的角色</a:t>
            </a:r>
            <a:endParaRPr sz="3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445" y="1463040"/>
            <a:ext cx="6310630" cy="48228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822960" y="640080"/>
            <a:ext cx="105156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复盘三：第一轮只要 brief，不急着要终稿</a:t>
            </a:r>
            <a:endParaRPr sz="3200" b="1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90" y="2545715"/>
            <a:ext cx="5153025" cy="3996055"/>
          </a:xfrm>
          <a:prstGeom prst="rect">
            <a:avLst/>
          </a:prstGeom>
        </p:spPr>
      </p:pic>
      <p:pic>
        <p:nvPicPr>
          <p:cNvPr id="8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345" y="3674745"/>
            <a:ext cx="5963920" cy="2374900"/>
          </a:xfrm>
          <a:prstGeom prst="rect">
            <a:avLst/>
          </a:prstGeom>
        </p:spPr>
      </p:pic>
      <p:pic>
        <p:nvPicPr>
          <p:cNvPr id="9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0" y="1381760"/>
            <a:ext cx="7259955" cy="11639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822960" y="640080"/>
            <a:ext cx="1051560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复盘三：成果是能继续工作的初稿，不</a:t>
            </a:r>
            <a:r>
              <a:rPr lang="zh-CN" sz="32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一定</a:t>
            </a:r>
            <a:r>
              <a:rPr sz="3200" b="1" i="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是漂亮答案</a:t>
            </a:r>
            <a:endParaRPr sz="3200" b="1" i="0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360" y="2653030"/>
            <a:ext cx="4617085" cy="2581910"/>
          </a:xfrm>
          <a:prstGeom prst="rect">
            <a:avLst/>
          </a:prstGeom>
        </p:spPr>
      </p:pic>
      <p:pic>
        <p:nvPicPr>
          <p:cNvPr id="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97330"/>
            <a:ext cx="5638800" cy="809625"/>
          </a:xfrm>
          <a:prstGeom prst="rect">
            <a:avLst/>
          </a:prstGeom>
        </p:spPr>
      </p:pic>
      <p:pic>
        <p:nvPicPr>
          <p:cNvPr id="10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95" y="2442845"/>
            <a:ext cx="5362575" cy="657225"/>
          </a:xfrm>
          <a:prstGeom prst="rect">
            <a:avLst/>
          </a:prstGeom>
        </p:spPr>
      </p:pic>
      <p:pic>
        <p:nvPicPr>
          <p:cNvPr id="11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55010"/>
            <a:ext cx="5772150" cy="32480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三类任务，三种交法</a:t>
            </a:r>
            <a:endParaRPr sz="34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777240" y="1449070"/>
            <a:ext cx="10217785" cy="1195705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097280" y="172339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920240" y="176911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lang="zh-CN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做个全自动</a:t>
            </a:r>
            <a:r>
              <a:rPr lang="zh-CN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工具</a:t>
            </a:r>
            <a:endParaRPr lang="zh-CN" sz="2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920240" y="2032635"/>
            <a:ext cx="743267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lang="zh-CN" sz="1600">
                <a:sym typeface="+mn-ea"/>
              </a:rPr>
              <a:t>输入输出固定、结果准确的，</a:t>
            </a:r>
            <a:r>
              <a:rPr sz="1600">
                <a:sym typeface="+mn-ea"/>
              </a:rPr>
              <a:t>不妨问AI做个工具解决。</a:t>
            </a:r>
            <a:endParaRPr sz="1600"/>
          </a:p>
        </p:txBody>
      </p:sp>
      <p:sp>
        <p:nvSpPr>
          <p:cNvPr id="20" name="Shape 1"/>
          <p:cNvSpPr>
            <a:spLocks noGrp="1"/>
          </p:cNvSpPr>
          <p:nvPr/>
        </p:nvSpPr>
        <p:spPr>
          <a:xfrm>
            <a:off x="777240" y="3029585"/>
            <a:ext cx="10217785" cy="1195705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2"/>
          <p:cNvSpPr>
            <a:spLocks noGrp="1"/>
          </p:cNvSpPr>
          <p:nvPr/>
        </p:nvSpPr>
        <p:spPr>
          <a:xfrm>
            <a:off x="1097280" y="3303905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400" b="1">
              <a:solidFill>
                <a:srgbClr val="E874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 3"/>
          <p:cNvSpPr>
            <a:spLocks noGrp="1"/>
          </p:cNvSpPr>
          <p:nvPr/>
        </p:nvSpPr>
        <p:spPr>
          <a:xfrm>
            <a:off x="1920240" y="3349625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lang="zh-CN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做个半自动</a:t>
            </a:r>
            <a:r>
              <a:rPr lang="zh-CN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流程</a:t>
            </a:r>
            <a:endParaRPr lang="zh-CN" sz="2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 4"/>
          <p:cNvSpPr>
            <a:spLocks noGrp="1"/>
          </p:cNvSpPr>
          <p:nvPr/>
        </p:nvSpPr>
        <p:spPr>
          <a:xfrm>
            <a:off x="1920240" y="3613150"/>
            <a:ext cx="743267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/>
              <a:t>方向明确时，写清改什么、不改什么，以及如何验收</a:t>
            </a:r>
            <a:r>
              <a:rPr sz="1600"/>
              <a:t>，并总结成</a:t>
            </a:r>
            <a:r>
              <a:rPr sz="1600"/>
              <a:t>固定工作流程。</a:t>
            </a:r>
            <a:endParaRPr sz="1600"/>
          </a:p>
        </p:txBody>
      </p:sp>
      <p:sp>
        <p:nvSpPr>
          <p:cNvPr id="28" name="Shape 1"/>
          <p:cNvSpPr>
            <a:spLocks noGrp="1"/>
          </p:cNvSpPr>
          <p:nvPr/>
        </p:nvSpPr>
        <p:spPr>
          <a:xfrm>
            <a:off x="777240" y="4625340"/>
            <a:ext cx="10217785" cy="1195705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"/>
          <p:cNvSpPr>
            <a:spLocks noGrp="1"/>
          </p:cNvSpPr>
          <p:nvPr/>
        </p:nvSpPr>
        <p:spPr>
          <a:xfrm>
            <a:off x="1097280" y="489966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400" b="1">
              <a:solidFill>
                <a:srgbClr val="E874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 3"/>
          <p:cNvSpPr>
            <a:spLocks noGrp="1"/>
          </p:cNvSpPr>
          <p:nvPr/>
        </p:nvSpPr>
        <p:spPr>
          <a:xfrm>
            <a:off x="1920240" y="494538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lang="zh-CN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和</a:t>
            </a:r>
            <a:r>
              <a:rPr lang="en-US" altLang="zh-CN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lang="zh-CN" altLang="en-US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共创</a:t>
            </a:r>
            <a:endParaRPr lang="zh-CN" altLang="en-US" sz="2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 4"/>
          <p:cNvSpPr>
            <a:spLocks noGrp="1"/>
          </p:cNvSpPr>
          <p:nvPr/>
        </p:nvSpPr>
        <p:spPr>
          <a:xfrm>
            <a:off x="1920240" y="5208905"/>
            <a:ext cx="743267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lang="en-US" sz="1600"/>
              <a:t>AI</a:t>
            </a:r>
            <a:r>
              <a:rPr lang="zh-CN" altLang="en-US" sz="1600"/>
              <a:t>负责阅读、提炼，人负责定义、</a:t>
            </a:r>
            <a:r>
              <a:rPr lang="zh-CN" altLang="en-US" sz="1600"/>
              <a:t>判断。</a:t>
            </a:r>
            <a:endParaRPr lang="zh-CN" altLang="en-US" sz="1600"/>
          </a:p>
        </p:txBody>
      </p:sp>
      <p:sp>
        <p:nvSpPr>
          <p:cNvPr id="32" name="文本框 31"/>
          <p:cNvSpPr>
            <a:spLocks noGrp="1"/>
          </p:cNvSpPr>
          <p:nvPr/>
        </p:nvSpPr>
        <p:spPr>
          <a:xfrm>
            <a:off x="2379980" y="6123305"/>
            <a:ext cx="7432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</a:t>
            </a:r>
            <a:r>
              <a:t>负责处理，共同讨论或主动提醒；人负责判断、取舍和最终决定。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优化师只是我最熟悉的入口</a:t>
            </a:r>
            <a:endParaRPr sz="3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777240" y="18288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097280" y="21031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920240" y="214884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产品</a:t>
            </a:r>
            <a:endParaRPr sz="2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43000" y="29260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用户反馈 → 提炼问题、形成需求初稿</a:t>
            </a:r>
            <a:endParaRPr sz="16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6309360" y="18288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629400" y="21031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4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452360" y="214884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销售</a:t>
            </a:r>
            <a:endParaRPr sz="2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675120" y="29260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会议记录 → 提取待办、生成跟进建议</a:t>
            </a:r>
            <a:endParaRPr sz="16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" y="43434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1097280" y="46177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920240" y="466344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设计与内容</a:t>
            </a:r>
            <a:endParaRPr sz="2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43000" y="54406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明确边界 → 批量小改、人工验收</a:t>
            </a:r>
            <a:endParaRPr sz="16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6309360" y="43434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6629400" y="46177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3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7452360" y="466344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运营与职能</a:t>
            </a:r>
            <a:endParaRPr sz="2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675120" y="54406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固定规则 → 自动整理、异常提醒</a:t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258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/>
        </p:nvSpPr>
        <p:spPr>
          <a:xfrm>
            <a:off x="960120" y="2240280"/>
            <a:ext cx="10241280" cy="182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6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好问题不是一次写完的，</a:t>
            </a:r>
            <a:endParaRPr sz="4600"/>
          </a:p>
          <a:p>
            <a:pPr marL="0" indent="0">
              <a:lnSpc>
                <a:spcPct val="11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6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是追问和验收出来的。</a:t>
            </a:r>
            <a:endParaRPr sz="4600"/>
          </a:p>
        </p:txBody>
      </p:sp>
      <p:sp>
        <p:nvSpPr>
          <p:cNvPr id="4" name="Text 1"/>
          <p:cNvSpPr>
            <a:spLocks noGrp="1"/>
          </p:cNvSpPr>
          <p:nvPr/>
        </p:nvSpPr>
        <p:spPr>
          <a:xfrm>
            <a:off x="960120" y="4206240"/>
            <a:ext cx="10880725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把错的结果原样贴回去：哪里不对、应该是什么、哪些内容不能再动。</a:t>
            </a:r>
            <a:endParaRPr sz="220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做完三场实操，再看 AI 到底变了什么</a:t>
            </a:r>
            <a:endParaRPr sz="34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777240" y="18288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1097280" y="21031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920240" y="214884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会聊</a:t>
            </a:r>
            <a:endParaRPr sz="2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143000" y="29260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写文案、解释概念、给建议</a:t>
            </a:r>
            <a:endParaRPr sz="16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6309360" y="18288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6629400" y="21031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40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452360" y="214884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会读</a:t>
            </a:r>
            <a:endParaRPr sz="2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6675120" y="29260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处理</a:t>
            </a: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大量网页、文档、表格、图片</a:t>
            </a:r>
            <a:endParaRPr sz="160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" y="43434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1097280" y="46177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1920240" y="466344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会做</a:t>
            </a:r>
            <a:endParaRPr sz="2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43000" y="54406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整理文件、生成素材、调用工具</a:t>
            </a:r>
            <a:endParaRPr sz="160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6309360" y="434340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6629400" y="46177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3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7452360" y="4663440"/>
            <a:ext cx="37033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会守</a:t>
            </a:r>
            <a:endParaRPr sz="2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675120" y="544068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定时检查，满足条件就通知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工具不同，但提需方法是通用的</a:t>
            </a:r>
            <a:endParaRPr sz="34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822960" y="182880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822960" y="214884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公司内部工具</a:t>
            </a:r>
            <a:endParaRPr sz="2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822960" y="27432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7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优先处理公司数据和固定流程</a:t>
            </a:r>
            <a:endParaRPr sz="17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22960" y="402336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500" i="1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权限明确 · 更贴业务 · 更容易协作</a:t>
            </a:r>
            <a:endParaRPr sz="150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7406640" y="182880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F4F6F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315200" y="21488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通用 AI 工具</a:t>
            </a:r>
            <a:endParaRPr sz="20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406640" y="27432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适合个人研究和临时任务</a:t>
            </a:r>
            <a:endParaRPr sz="15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406640" y="4010025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500" i="1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资料整理 · 内容初稿 · 快速验证</a:t>
            </a:r>
            <a:endParaRPr sz="150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166360" y="2697480"/>
            <a:ext cx="1828800" cy="1371600"/>
          </a:xfrm>
          <a:prstGeom prst="ellipse">
            <a:avLst/>
          </a:prstGeom>
          <a:solidFill>
            <a:srgbClr val="E8743B"/>
          </a:solidFill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166360" y="27889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300">
                <a:solidFill>
                  <a:srgbClr val="FBEDE4"/>
                </a:solidFill>
                <a:latin typeface="微软雅黑"/>
                <a:ea typeface="微软雅黑"/>
                <a:cs typeface="微软雅黑"/>
              </a:rPr>
              <a:t>共同基础</a:t>
            </a:r>
            <a:endParaRPr sz="1300"/>
          </a:p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提需和验收</a:t>
            </a:r>
            <a:endParaRPr sz="13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复杂任务我优先海外主流模型；公司数据与固定流程，优先内部工具。</a:t>
            </a:r>
            <a:endParaRPr sz="2200">
              <a:solidFill>
                <a:srgbClr val="1B2A4A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learning-title"/>
          <p:cNvSpPr>
            <a:spLocks noGrp="1"/>
          </p:cNvSpPr>
          <p:nvPr/>
        </p:nvSpPr>
        <p:spPr>
          <a:xfrm>
            <a:off x="819150" y="476250"/>
            <a:ext cx="10515600" cy="5905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285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想持续学 AI，先把信息源换掉</a:t>
            </a:r>
            <a:endParaRPr sz="285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learning-subtitle"/>
          <p:cNvSpPr>
            <a:spLocks noGrp="1"/>
          </p:cNvSpPr>
          <p:nvPr/>
        </p:nvSpPr>
        <p:spPr>
          <a:xfrm>
            <a:off x="819150" y="1066800"/>
            <a:ext cx="10515600" cy="41910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6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先靠近一手信息，再用真实任务把信息变成能力。</a:t>
            </a:r>
            <a:endParaRPr sz="16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learning-card-1"/>
          <p:cNvSpPr>
            <a:spLocks noGrp="1"/>
          </p:cNvSpPr>
          <p:nvPr/>
        </p:nvSpPr>
        <p:spPr>
          <a:xfrm>
            <a:off x="819150" y="1809750"/>
            <a:ext cx="5105400" cy="17145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4" name="learning-number-1"/>
          <p:cNvSpPr>
            <a:spLocks noGrp="1"/>
          </p:cNvSpPr>
          <p:nvPr/>
        </p:nvSpPr>
        <p:spPr>
          <a:xfrm>
            <a:off x="1047750" y="203835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learning-card-title-1"/>
          <p:cNvSpPr>
            <a:spLocks noGrp="1"/>
          </p:cNvSpPr>
          <p:nvPr/>
        </p:nvSpPr>
        <p:spPr>
          <a:xfrm>
            <a:off x="1733550" y="2000250"/>
            <a:ext cx="3857625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X / YouTube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learning-card-body-1"/>
          <p:cNvSpPr>
            <a:spLocks noGrp="1"/>
          </p:cNvSpPr>
          <p:nvPr/>
        </p:nvSpPr>
        <p:spPr>
          <a:xfrm>
            <a:off x="1085850" y="2590800"/>
            <a:ext cx="4572000" cy="76200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优先关注模型公司、产品团队和一线从业者。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示例：Codex 的 Tibo（@thsottiaux）。</a:t>
            </a:r>
            <a:r>
              <a:rPr lang="en-US" altLang="zh-CN"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  <a:hlinkClick r:id="rId1" action="ppaction://hlinkfile"/>
              </a:rPr>
              <a:t>https://x.com/thsottiaux</a:t>
            </a:r>
            <a:endParaRPr lang="en-US" altLang="zh-CN"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learning-card-2"/>
          <p:cNvSpPr>
            <a:spLocks noGrp="1"/>
          </p:cNvSpPr>
          <p:nvPr/>
        </p:nvSpPr>
        <p:spPr>
          <a:xfrm>
            <a:off x="6229350" y="1809750"/>
            <a:ext cx="5105400" cy="17145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8" name="learning-number-2"/>
          <p:cNvSpPr>
            <a:spLocks noGrp="1"/>
          </p:cNvSpPr>
          <p:nvPr/>
        </p:nvSpPr>
        <p:spPr>
          <a:xfrm>
            <a:off x="6457950" y="2038350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learning-card-title-2"/>
          <p:cNvSpPr>
            <a:spLocks noGrp="1"/>
          </p:cNvSpPr>
          <p:nvPr/>
        </p:nvSpPr>
        <p:spPr>
          <a:xfrm>
            <a:off x="7143750" y="2000250"/>
            <a:ext cx="3857625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沿关注列表扩展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learning-card-body-2"/>
          <p:cNvSpPr>
            <a:spLocks noGrp="1"/>
          </p:cNvSpPr>
          <p:nvPr/>
        </p:nvSpPr>
        <p:spPr>
          <a:xfrm>
            <a:off x="6496050" y="2590800"/>
            <a:ext cx="4572000" cy="76200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从一个可信账号继续关注其互动对象。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主动关注、收藏、互动，让推荐逐渐变准。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learning-card-3"/>
          <p:cNvSpPr>
            <a:spLocks noGrp="1"/>
          </p:cNvSpPr>
          <p:nvPr/>
        </p:nvSpPr>
        <p:spPr>
          <a:xfrm>
            <a:off x="819150" y="3857625"/>
            <a:ext cx="5105400" cy="17145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12" name="learning-number-3"/>
          <p:cNvSpPr>
            <a:spLocks noGrp="1"/>
          </p:cNvSpPr>
          <p:nvPr/>
        </p:nvSpPr>
        <p:spPr>
          <a:xfrm>
            <a:off x="1047750" y="4086225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learning-card-title-3"/>
          <p:cNvSpPr>
            <a:spLocks noGrp="1"/>
          </p:cNvSpPr>
          <p:nvPr/>
        </p:nvSpPr>
        <p:spPr>
          <a:xfrm>
            <a:off x="1733550" y="4048125"/>
            <a:ext cx="3857625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不方便上外网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learning-card-body-3"/>
          <p:cNvSpPr>
            <a:spLocks noGrp="1"/>
          </p:cNvSpPr>
          <p:nvPr/>
        </p:nvSpPr>
        <p:spPr>
          <a:xfrm>
            <a:off x="1085850" y="4638675"/>
            <a:ext cx="4572000" cy="76200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可以用即刻 App 的「AI探索站」获取中文讨论和信息摘要。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  <a:hlinkClick r:id="rId2" action="ppaction://hlinkfile"/>
              </a:rPr>
              <a:t>https://m.okjike.com/topics/63579abb6724cc583b9bba9a?s=ewoidSI6ICI2YTYzZGZiNzNlZWExMDM3NGRiZDMyMTUiCn0=</a:t>
            </a:r>
            <a:endParaRPr lang="en-US" altLang="zh-CN"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learning-card-4"/>
          <p:cNvSpPr>
            <a:spLocks noGrp="1"/>
          </p:cNvSpPr>
          <p:nvPr/>
        </p:nvSpPr>
        <p:spPr>
          <a:xfrm>
            <a:off x="6229350" y="3857625"/>
            <a:ext cx="5105400" cy="17145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9525">
            <a:solidFill>
              <a:srgbClr val="F4F6FB"/>
            </a:solidFill>
            <a:prstDash val="solid"/>
          </a:ln>
        </p:spPr>
      </p:sp>
      <p:sp>
        <p:nvSpPr>
          <p:cNvPr id="16" name="learning-number-4"/>
          <p:cNvSpPr>
            <a:spLocks noGrp="1"/>
          </p:cNvSpPr>
          <p:nvPr/>
        </p:nvSpPr>
        <p:spPr>
          <a:xfrm>
            <a:off x="6457950" y="4086225"/>
            <a:ext cx="514350" cy="514350"/>
          </a:xfrm>
          <a:prstGeom prst="ellipse">
            <a:avLst/>
          </a:prstGeom>
          <a:solidFill>
            <a:srgbClr val="F47A32"/>
          </a:solidFill>
          <a:ln w="0">
            <a:solidFill>
              <a:srgbClr val="F47A32"/>
            </a:solidFill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learning-card-title-4"/>
          <p:cNvSpPr>
            <a:spLocks noGrp="1"/>
          </p:cNvSpPr>
          <p:nvPr/>
        </p:nvSpPr>
        <p:spPr>
          <a:xfrm>
            <a:off x="7143750" y="4048125"/>
            <a:ext cx="3857625" cy="5524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l">
              <a:def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愿意为筛选付费</a:t>
            </a:r>
            <a:endParaRPr sz="18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learning-card-body-4"/>
          <p:cNvSpPr>
            <a:spLocks noGrp="1"/>
          </p:cNvSpPr>
          <p:nvPr/>
        </p:nvSpPr>
        <p:spPr>
          <a:xfrm>
            <a:off x="6496050" y="4638675"/>
            <a:ext cx="4572000" cy="762000"/>
          </a:xfrm>
          <a:prstGeom prst="rect">
            <a:avLst/>
          </a:prstGeom>
          <a:ln w="0">
            <a:noFill/>
          </a:ln>
        </p:spPr>
        <p:txBody>
          <a:bodyPr anchor="t"/>
          <a:lstStyle/>
          <a:p>
            <a:pPr algn="l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知识星球或付费社群值得买的是：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A5878"/>
                </a:solidFill>
                <a:latin typeface="微软雅黑"/>
                <a:ea typeface="微软雅黑"/>
                <a:cs typeface="微软雅黑"/>
              </a:rPr>
              <a:t>筛选、任务、反馈和同伴，而不只是新闻搬运。</a:t>
            </a:r>
            <a:endParaRPr sz="1350" b="0">
              <a:solidFill>
                <a:srgbClr val="4A587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learning-rule"/>
          <p:cNvSpPr>
            <a:spLocks noGrp="1"/>
          </p:cNvSpPr>
          <p:nvPr/>
        </p:nvSpPr>
        <p:spPr>
          <a:xfrm>
            <a:off x="819150" y="6029325"/>
            <a:ext cx="10515600" cy="400050"/>
          </a:xfrm>
          <a:prstGeom prst="rect">
            <a:avLst/>
          </a:prstGeom>
          <a:ln w="0">
            <a:noFill/>
          </a:ln>
        </p:spPr>
        <p:txBody>
          <a:bodyPr anchor="ctr"/>
          <a:lstStyle/>
          <a:p>
            <a:pPr algn="ctr">
              <a:defRPr sz="150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47A32"/>
                </a:solidFill>
                <a:latin typeface="微软雅黑"/>
                <a:ea typeface="微软雅黑"/>
                <a:cs typeface="微软雅黑"/>
              </a:rPr>
              <a:t>原则：离原始信息越近越好；但知道得快，不等于真正会用。</a:t>
            </a:r>
            <a:endParaRPr sz="1500" b="1">
              <a:solidFill>
                <a:srgbClr val="F47A32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 AI，和学做饭差不多</a:t>
            </a:r>
            <a:endParaRPr sz="34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777240" y="2377440"/>
            <a:ext cx="3108960" cy="2103120"/>
          </a:xfrm>
          <a:prstGeom prst="roundRect">
            <a:avLst>
              <a:gd name="adj" fmla="val 5217"/>
            </a:avLst>
          </a:prstGeom>
          <a:solidFill>
            <a:srgbClr val="26385C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777240" y="26060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30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777240" y="32918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先选一口好锅</a:t>
            </a:r>
            <a:endParaRPr sz="26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77240" y="3886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CAD3E8"/>
                </a:solidFill>
                <a:latin typeface="微软雅黑"/>
                <a:ea typeface="微软雅黑"/>
                <a:cs typeface="微软雅黑"/>
              </a:rPr>
              <a:t>复杂任务用主流强模型；公司数据优先内部工具</a:t>
            </a:r>
            <a:endParaRPr sz="16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24612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>
            <a:spLocks noGrp="1"/>
          </p:cNvSpPr>
          <p:nvPr/>
        </p:nvSpPr>
        <p:spPr>
          <a:xfrm>
            <a:off x="4526280" y="2377440"/>
            <a:ext cx="3108960" cy="2103120"/>
          </a:xfrm>
          <a:prstGeom prst="roundRect">
            <a:avLst>
              <a:gd name="adj" fmla="val 5217"/>
            </a:avLst>
          </a:prstGeom>
          <a:solidFill>
            <a:srgbClr val="26385C"/>
          </a:solidFill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4526280" y="26060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30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526280" y="32918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立刻下厨房</a:t>
            </a:r>
            <a:endParaRPr sz="26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526280" y="3886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CAD3E8"/>
                </a:solidFill>
                <a:latin typeface="微软雅黑"/>
                <a:ea typeface="微软雅黑"/>
                <a:cs typeface="微软雅黑"/>
              </a:rPr>
              <a:t>拿真实任务开练，不等学完再开始</a:t>
            </a:r>
            <a:endParaRPr sz="1600"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46120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>
            <a:spLocks noGrp="1"/>
          </p:cNvSpPr>
          <p:nvPr/>
        </p:nvSpPr>
        <p:spPr>
          <a:xfrm>
            <a:off x="8275320" y="2377440"/>
            <a:ext cx="3108960" cy="2103120"/>
          </a:xfrm>
          <a:prstGeom prst="roundRect">
            <a:avLst>
              <a:gd name="adj" fmla="val 5217"/>
            </a:avLst>
          </a:prstGeom>
          <a:solidFill>
            <a:srgbClr val="26385C"/>
          </a:solidFill>
        </p:spPr>
      </p:sp>
      <p:sp>
        <p:nvSpPr>
          <p:cNvPr id="14" name="Text 10"/>
          <p:cNvSpPr>
            <a:spLocks noGrp="1"/>
          </p:cNvSpPr>
          <p:nvPr/>
        </p:nvSpPr>
        <p:spPr>
          <a:xfrm>
            <a:off x="8275320" y="26060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300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8275320" y="32918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边做边复盘</a:t>
            </a:r>
            <a:endParaRPr sz="2600"/>
          </a:p>
        </p:txBody>
      </p:sp>
      <p:sp>
        <p:nvSpPr>
          <p:cNvPr id="16" name="Text 12"/>
          <p:cNvSpPr>
            <a:spLocks noGrp="1"/>
          </p:cNvSpPr>
          <p:nvPr/>
        </p:nvSpPr>
        <p:spPr>
          <a:xfrm>
            <a:off x="8275320" y="3886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1600">
                <a:solidFill>
                  <a:srgbClr val="CAD3E8"/>
                </a:solidFill>
                <a:latin typeface="微软雅黑"/>
                <a:ea typeface="微软雅黑"/>
                <a:cs typeface="微软雅黑"/>
              </a:rPr>
              <a:t>把错误贴回去，让 AI 解释并总结下一轮</a:t>
            </a:r>
            <a:endParaRPr sz="16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i="1">
                <a:solidFill>
                  <a:srgbClr val="CAD3E8"/>
                </a:solidFill>
                <a:latin typeface="微软雅黑"/>
                <a:ea typeface="微软雅黑"/>
                <a:cs typeface="微软雅黑"/>
              </a:rPr>
              <a:t>现场小练习：把一个失败结果贴回去，问 AI“我缺了什么信息？下一轮怎么说？”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914400" y="876300"/>
            <a:ext cx="10334625" cy="1257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这周，只做一件事</a:t>
            </a:r>
            <a:endParaRPr sz="4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914400" y="233172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CAD3E8"/>
                </a:solidFill>
                <a:latin typeface="微软雅黑"/>
                <a:ea typeface="微软雅黑"/>
                <a:cs typeface="微软雅黑"/>
              </a:rPr>
              <a:t>挑一件重复做了三次以上的真实任务，用主流强模型跑出第一版，再让 AI 帮你复盘。</a:t>
            </a:r>
            <a:endParaRPr sz="2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2194560" y="3291840"/>
            <a:ext cx="7772400" cy="1554480"/>
          </a:xfrm>
          <a:prstGeom prst="roundRect">
            <a:avLst>
              <a:gd name="adj" fmla="val 8824"/>
            </a:avLst>
          </a:prstGeom>
          <a:solidFill>
            <a:srgbClr val="26385C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2194560" y="3291840"/>
            <a:ext cx="7772400" cy="1554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今天的目标不是学会所有工具，</a:t>
            </a:r>
            <a:endParaRPr sz="2200"/>
          </a:p>
          <a:p>
            <a:pPr marL="0" indent="0" algn="ctr"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而是</a:t>
            </a:r>
            <a:r>
              <a:rPr sz="2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完成一次真实任务</a:t>
            </a:r>
            <a:r>
              <a:rPr sz="2400" b="1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22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i="1">
                <a:solidFill>
                  <a:srgbClr val="CAD3E8"/>
                </a:solidFill>
                <a:latin typeface="微软雅黑"/>
                <a:ea typeface="微软雅黑"/>
                <a:cs typeface="微软雅黑"/>
              </a:rPr>
              <a:t>提问 · 讨论 · 回去就试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ourse_topic_statistics"/>
          <p:cNvPicPr>
            <a:picLocks noChangeAspect="1"/>
          </p:cNvPicPr>
          <p:nvPr/>
        </p:nvPicPr>
        <p:blipFill>
          <a:blip r:embed="rId1"/>
          <a:srcRect t="14568" b="13032"/>
          <a:stretch>
            <a:fillRect/>
          </a:stretch>
        </p:blipFill>
        <p:spPr>
          <a:xfrm>
            <a:off x="1874520" y="1251585"/>
            <a:ext cx="8181975" cy="50272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7395" y="482600"/>
            <a:ext cx="10696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这些问题是否已经讲</a:t>
            </a:r>
            <a:r>
              <a:rPr lang="zh-CN"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清楚？</a:t>
            </a:r>
            <a:endParaRPr lang="zh-CN" sz="2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img_v3_0214u_6e1e9d89-c0a6-4ae4-aef2-52673bf33ff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7475" y="626110"/>
            <a:ext cx="4337685" cy="56064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7395" y="482600"/>
            <a:ext cx="10696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2400" b="1">
                <a:solidFill>
                  <a:srgbClr val="1B2A4A"/>
                </a:solidFill>
                <a:latin typeface="微软雅黑"/>
                <a:ea typeface="微软雅黑"/>
                <a:cs typeface="微软雅黑"/>
              </a:rPr>
              <a:t>不要忘了填写课后反馈表，你的反馈可能就是下一节课的灵感~</a:t>
            </a:r>
            <a:endParaRPr sz="2400" b="1">
              <a:solidFill>
                <a:srgbClr val="1B2A4A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2911</Words>
  <Application>WPS 文字</Application>
  <PresentationFormat>Converted Presentation</PresentationFormat>
  <Paragraphs>434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50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微软雅黑</vt:lpstr>
      <vt:lpstr>宋体</vt:lpstr>
      <vt:lpstr>Arial Unicode MS</vt:lpstr>
      <vt:lpstr>汉仪书宋二KW</vt:lpstr>
      <vt:lpstr>Helvetica Neue</vt:lpstr>
      <vt:lpstr>等线</vt:lpstr>
      <vt:lpstr>汉仪中等线KW</vt:lpstr>
      <vt:lpstr>微软雅黑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千帆</cp:lastModifiedBy>
  <cp:revision>19</cp:revision>
  <dcterms:created xsi:type="dcterms:W3CDTF">2026-08-27T02:54:46Z</dcterms:created>
  <dcterms:modified xsi:type="dcterms:W3CDTF">2026-08-27T02:54:46Z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AE5BEFF632919ECD554B8E6AA15A5B23_42</vt:lpwstr>
  </property>
  <property fmtid="{D5CDD505-2E9C-101B-9397-08002B2CF9AE}" pid="3" name="KSOProductBuildVer">
    <vt:lpwstr>2052-7.5.1.8994</vt:lpwstr>
  </property>
</Properties>
</file>